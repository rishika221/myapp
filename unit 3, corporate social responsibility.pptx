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jpeg" ContentType="image/jpeg"/>
  <Override PartName="/ppt/media/image2.jpeg" ContentType="image/jpe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_rels/slide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34.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29.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3.xml.rels" ContentType="application/vnd.openxmlformats-package.relationships+xml"/>
  <Override PartName="/ppt/slides/_rels/slide38.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37.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1.xml.rels" ContentType="application/vnd.openxmlformats-package.relationships+xml"/>
  <Override PartName="/ppt/slides/_rels/slide36.xml.rels" ContentType="application/vnd.openxmlformats-package.relationships+xml"/>
  <Override PartName="/ppt/slides/_rels/slide27.xml.rels" ContentType="application/vnd.openxmlformats-package.relationships+xml"/>
  <Override PartName="/ppt/slides/_rels/slide43.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32.xml.rels" ContentType="application/vnd.openxmlformats-package.relationships+xml"/>
  <Override PartName="/ppt/slides/_rels/slide25.xml.rels" ContentType="application/vnd.openxmlformats-package.relationships+xml"/>
  <Override PartName="/ppt/slides/_rels/slide16.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38.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D32E1BF-ECC0-465B-8D4D-F6D0CCB8FDFC}"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DCD92F8-19C0-45F5-8DD4-C42D19A4C4BA}"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8AC294D-707B-45DF-924B-D961F21684C4}"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E905F4E-79F6-4B2C-969A-417A02DF2691}"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96346BA-61A5-4787-99AA-EB74802428E0}"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57860D4-A889-4278-86CC-0CAF67F53DFA}"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A37F15E-C70D-4219-AB82-49D5B0F35B73}"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F6D229B-DEFA-4E73-A1A4-7AE7FB0DD5FC}"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E009529-3DAE-411B-934E-2204D90EA9DB}"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2D5745D-DCA2-4EA9-ADA5-09AFE3877B88}"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51999117-06FB-4E38-A971-94211D851447}"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003A32D-F5B0-4164-B048-9B6F256222E2}" type="slidenum">
              <a:t>&lt;#&gt;</a:t>
            </a:fld>
          </a:p>
        </p:txBody>
      </p:sp>
      <p:sp>
        <p:nvSpPr>
          <p:cNvPr id="11" name="PlaceHolder 10"/>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body"/>
          </p:nvPr>
        </p:nvSpPr>
        <p:spPr>
          <a:xfrm>
            <a:off x="457200" y="1600200"/>
            <a:ext cx="8229240" cy="4525560"/>
          </a:xfrm>
          <a:prstGeom prst="rect">
            <a:avLst/>
          </a:prstGeom>
          <a:noFill/>
          <a:ln w="0">
            <a:noFill/>
          </a:ln>
        </p:spPr>
        <p:txBody>
          <a:bodyPr anchor="t">
            <a:noAutofit/>
          </a:bodyPr>
          <a:p>
            <a:pPr marL="432000" indent="-324000">
              <a:lnSpc>
                <a:spcPct val="100000"/>
              </a:lnSpc>
              <a:spcBef>
                <a:spcPts val="641"/>
              </a:spcBef>
              <a:buClr>
                <a:srgbClr val="000000"/>
              </a:buClr>
              <a:buSzPct val="45000"/>
              <a:buFont typeface="Wingdings" charset="2"/>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864000" indent="-324000">
              <a:lnSpc>
                <a:spcPct val="100000"/>
              </a:lnSpc>
              <a:spcBef>
                <a:spcPts val="561"/>
              </a:spcBef>
              <a:buClr>
                <a:srgbClr val="000000"/>
              </a:buClr>
              <a:buSzPct val="75000"/>
              <a:buFont typeface="Symbol" charset="2"/>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296000" indent="-288000">
              <a:lnSpc>
                <a:spcPct val="100000"/>
              </a:lnSpc>
              <a:spcBef>
                <a:spcPts val="479"/>
              </a:spcBef>
              <a:buClr>
                <a:srgbClr val="000000"/>
              </a:buClr>
              <a:buSzPct val="45000"/>
              <a:buFont typeface="Wingdings" charset="2"/>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728000" indent="-216000">
              <a:lnSpc>
                <a:spcPct val="100000"/>
              </a:lnSpc>
              <a:spcBef>
                <a:spcPts val="400"/>
              </a:spcBef>
              <a:buClr>
                <a:srgbClr val="000000"/>
              </a:buClr>
              <a:buSzPct val="75000"/>
              <a:buFont typeface="Symbol" charset="2"/>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160000" indent="-216000">
              <a:lnSpc>
                <a:spcPct val="100000"/>
              </a:lnSpc>
              <a:spcBef>
                <a:spcPts val="400"/>
              </a:spcBef>
              <a:buClr>
                <a:srgbClr val="000000"/>
              </a:buClr>
              <a:buSzPct val="45000"/>
              <a:buFont typeface="Wingdings" charset="2"/>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2" name="PlaceHolder 3"/>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IN" sz="1200" spc="-1" strike="noStrike">
              <a:latin typeface="Times New Roman"/>
            </a:endParaRPr>
          </a:p>
        </p:txBody>
      </p:sp>
      <p:sp>
        <p:nvSpPr>
          <p:cNvPr id="3" name="PlaceHolder 4"/>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4" name="PlaceHolder 5"/>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F85E0147-345C-4029-9AC8-6921E5509D44}" type="slidenum">
              <a:rPr b="0" lang="en-US" sz="1200" spc="-1" strike="noStrike">
                <a:solidFill>
                  <a:srgbClr val="8b8b8b"/>
                </a:solidFill>
                <a:latin typeface="Calibri"/>
              </a:rPr>
              <a:t>&lt;number&gt;</a:t>
            </a:fld>
            <a:endParaRPr b="0" lang="en-IN"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hyperlink" Target="https://benevity.com/resources/ultimate-guide-corporate-social-responsibility?hsLang=en" TargetMode="External"/><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hyperlink" Target="https://asana.com/resources/effective-communication-workplace" TargetMode="External"/><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hyperlink" Target="https://asana.com/resources/improving-group-dynamics" TargetMode="External"/><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hyperlink" Target="https://asana.com/resources/stand-up-meeting" TargetMode="External"/><Relationship Id="rId2" Type="http://schemas.openxmlformats.org/officeDocument/2006/relationships/hyperlink" Target="https://asana.com/resources/time-management-tips" TargetMode="External"/><Relationship Id="rId3" Type="http://schemas.openxmlformats.org/officeDocument/2006/relationships/hyperlink" Target="https://asana.com/resources/make-better-to-do-lists" TargetMode="External"/><Relationship Id="rId4"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hyperlink" Target="https://asana.com/resources/project-stakeholder" TargetMode="External"/><Relationship Id="rId2" Type="http://schemas.openxmlformats.org/officeDocument/2006/relationships/hyperlink" Target="https://asana.com/resources/how-to-be-more-productive" TargetMode="External"/><Relationship Id="rId3"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hyperlink" Target="https://asana.com/uses/project-management" TargetMode="External"/><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hyperlink" Target="https://asana.com/resources/emotional-intelligence-skills" TargetMode="External"/><Relationship Id="rId2" Type="http://schemas.openxmlformats.org/officeDocument/2006/relationships/hyperlink" Target="https://asana.com/resources/overworked-signs" TargetMode="External"/><Relationship Id="rId3" Type="http://schemas.openxmlformats.org/officeDocument/2006/relationships/hyperlink" Target="https://asana.com/resources/how-to-delegate" TargetMode="External"/><Relationship Id="rId4"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hyperlink" Target="https://asana.com/resources/virtual-team" TargetMode="External"/><Relationship Id="rId2" Type="http://schemas.openxmlformats.org/officeDocument/2006/relationships/hyperlink" Target="https://asana.com/resources/remote-work" TargetMode="External"/><Relationship Id="rId3"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hyperlink" Target="https://asana.com/resources/create-project-management-timeline-template" TargetMode="External"/><Relationship Id="rId2" Type="http://schemas.openxmlformats.org/officeDocument/2006/relationships/hyperlink" Target="https://asana.com/resources/how-prioritize-tasks-work" TargetMode="External"/><Relationship Id="rId3"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hyperlink" Target="https://asana.com/resources/cultural-intelligence" TargetMode="External"/><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hyperlink" Target="https://asana.com/resources/nonverbal-communication" TargetMode="External"/><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hyperlink" Target="https://asana.com/resources/how-to-work-from-home" TargetMode="External"/><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42" name="Content Placeholder 3" descr="images (18).jpeg"/>
          <p:cNvPicPr/>
          <p:nvPr/>
        </p:nvPicPr>
        <p:blipFill>
          <a:blip r:embed="rId1"/>
          <a:stretch/>
        </p:blipFill>
        <p:spPr>
          <a:xfrm>
            <a:off x="0" y="0"/>
            <a:ext cx="9143640" cy="6857640"/>
          </a:xfrm>
          <a:prstGeom prst="rect">
            <a:avLst/>
          </a:prstGeom>
          <a:ln w="0">
            <a:noFill/>
          </a:ln>
        </p:spPr>
      </p:pic>
      <p:sp>
        <p:nvSpPr>
          <p:cNvPr id="43" name="TextBox 4"/>
          <p:cNvSpPr/>
          <p:nvPr/>
        </p:nvSpPr>
        <p:spPr>
          <a:xfrm>
            <a:off x="609480" y="533520"/>
            <a:ext cx="8381520" cy="699120"/>
          </a:xfrm>
          <a:prstGeom prst="rect">
            <a:avLst/>
          </a:prstGeom>
          <a:solidFill>
            <a:srgbClr val="92d050"/>
          </a:solidFill>
          <a:ln w="0">
            <a:noFill/>
          </a:ln>
        </p:spPr>
        <p:style>
          <a:lnRef idx="0"/>
          <a:fillRef idx="0"/>
          <a:effectRef idx="0"/>
          <a:fontRef idx="minor"/>
        </p:style>
        <p:txBody>
          <a:bodyPr lIns="90000" rIns="90000" tIns="45000" bIns="45000" anchor="t">
            <a:spAutoFit/>
          </a:bodyPr>
          <a:p>
            <a:pPr>
              <a:lnSpc>
                <a:spcPct val="100000"/>
              </a:lnSpc>
              <a:buNone/>
            </a:pPr>
            <a:r>
              <a:rPr b="1" lang="en-US" sz="4000" spc="-1" strike="noStrike" u="sng">
                <a:solidFill>
                  <a:srgbClr val="0000ff"/>
                </a:solidFill>
                <a:uFillTx/>
                <a:latin typeface="Bahnschrift"/>
                <a:hlinkClick r:id="rId2"/>
              </a:rPr>
              <a:t>Corporate social responsibility</a:t>
            </a:r>
            <a:endParaRPr b="0" lang="en-IN" sz="4000" spc="-1" strike="noStrike">
              <a:latin typeface="Arial"/>
            </a:endParaRPr>
          </a:p>
        </p:txBody>
      </p:sp>
      <p:sp>
        <p:nvSpPr>
          <p:cNvPr id="44" name="TextBox 5"/>
          <p:cNvSpPr/>
          <p:nvPr/>
        </p:nvSpPr>
        <p:spPr>
          <a:xfrm>
            <a:off x="685800" y="1523880"/>
            <a:ext cx="8076960" cy="6185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3600" spc="-1" strike="noStrike">
                <a:solidFill>
                  <a:srgbClr val="000000"/>
                </a:solidFill>
                <a:latin typeface="Calibri"/>
              </a:rPr>
              <a:t>(</a:t>
            </a:r>
            <a:r>
              <a:rPr b="0" lang="en-US" sz="4000" spc="-1" strike="noStrike">
                <a:solidFill>
                  <a:srgbClr val="000000"/>
                </a:solidFill>
                <a:latin typeface="Candara"/>
              </a:rPr>
              <a:t>CSR) is a business initiative designed to meet specific goals related to ethics, sustainability and social impact. When executed well, it can enhance how your business is viewed and approached, helping to share your company’s broader mission with the world.  </a:t>
            </a:r>
            <a:endParaRPr b="0" lang="en-IN" sz="4000" spc="-1" strike="noStrike">
              <a:latin typeface="Arial"/>
            </a:endParaRPr>
          </a:p>
        </p:txBody>
      </p:sp>
    </p:spTree>
  </p:cSld>
  <p:transition>
    <p:wedg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0" y="0"/>
            <a:ext cx="9143640" cy="1417320"/>
          </a:xfrm>
          <a:prstGeom prst="rect">
            <a:avLst/>
          </a:prstGeom>
          <a:solidFill>
            <a:srgbClr val="00b050"/>
          </a:solidFill>
          <a:ln w="0">
            <a:noFill/>
          </a:ln>
        </p:spPr>
        <p:txBody>
          <a:bodyPr anchor="ctr">
            <a:normAutofit fontScale="65000"/>
          </a:bodyPr>
          <a:p>
            <a:pPr algn="ctr">
              <a:lnSpc>
                <a:spcPct val="100000"/>
              </a:lnSpc>
              <a:buNone/>
            </a:pPr>
            <a:br>
              <a:rPr sz="4400"/>
            </a:br>
            <a:r>
              <a:rPr b="1" lang="en-US" sz="4400" spc="-1" strike="noStrike">
                <a:solidFill>
                  <a:srgbClr val="000000"/>
                </a:solidFill>
                <a:latin typeface="Bahnschrift Condensed"/>
              </a:rPr>
              <a:t>Types of corporate social responsibility</a:t>
            </a:r>
            <a:r>
              <a:rPr b="1" lang="en-US" sz="4400" spc="-1" strike="noStrike">
                <a:solidFill>
                  <a:srgbClr val="000000"/>
                </a:solidFill>
                <a:latin typeface="Calibri"/>
              </a:rPr>
              <a:t> </a:t>
            </a:r>
            <a:br>
              <a:rPr sz="4400"/>
            </a:br>
            <a:endParaRPr b="0" lang="en-US" sz="4400" spc="-1" strike="noStrike">
              <a:solidFill>
                <a:srgbClr val="000000"/>
              </a:solidFill>
              <a:latin typeface="Calibri"/>
            </a:endParaRPr>
          </a:p>
        </p:txBody>
      </p:sp>
      <p:sp>
        <p:nvSpPr>
          <p:cNvPr id="46" name="PlaceHolder 2"/>
          <p:cNvSpPr>
            <a:spLocks noGrp="1"/>
          </p:cNvSpPr>
          <p:nvPr>
            <p:ph/>
          </p:nvPr>
        </p:nvSpPr>
        <p:spPr>
          <a:xfrm>
            <a:off x="0" y="1447920"/>
            <a:ext cx="9143640" cy="5409720"/>
          </a:xfrm>
          <a:prstGeom prst="rect">
            <a:avLst/>
          </a:prstGeom>
          <a:solidFill>
            <a:srgbClr val="e6e0ec"/>
          </a:solidFill>
          <a:ln w="0">
            <a:noFill/>
          </a:ln>
        </p:spPr>
        <p:txBody>
          <a:bodyPr anchor="t">
            <a:noAutofit/>
          </a:bodyPr>
          <a:p>
            <a:pPr marL="343080" indent="-343080">
              <a:lnSpc>
                <a:spcPct val="100000"/>
              </a:lnSpc>
              <a:spcBef>
                <a:spcPts val="799"/>
              </a:spcBef>
              <a:buClr>
                <a:srgbClr val="00b050"/>
              </a:buClr>
              <a:buFont typeface="Arial"/>
              <a:buChar char="•"/>
            </a:pPr>
            <a:r>
              <a:rPr b="1" lang="en-US" sz="4000" spc="-1" strike="noStrike">
                <a:solidFill>
                  <a:srgbClr val="00b050"/>
                </a:solidFill>
                <a:latin typeface="Baskerville Old Face"/>
              </a:rPr>
              <a:t>Environmental social responsibility</a:t>
            </a:r>
            <a:r>
              <a:rPr b="0" lang="en-US" sz="4000" spc="-1" strike="noStrike">
                <a:solidFill>
                  <a:srgbClr val="000000"/>
                </a:solidFill>
                <a:latin typeface="Calibri"/>
              </a:rPr>
              <a:t> </a:t>
            </a:r>
            <a:endParaRPr b="0" lang="en-US" sz="4000" spc="-1" strike="noStrike">
              <a:solidFill>
                <a:srgbClr val="000000"/>
              </a:solidFill>
              <a:latin typeface="Calibri"/>
            </a:endParaRPr>
          </a:p>
          <a:p>
            <a:pPr marL="343080" indent="-343080">
              <a:lnSpc>
                <a:spcPct val="100000"/>
              </a:lnSpc>
              <a:spcBef>
                <a:spcPts val="799"/>
              </a:spcBef>
              <a:buClr>
                <a:srgbClr val="7030a0"/>
              </a:buClr>
              <a:buFont typeface="Arial"/>
              <a:buChar char="•"/>
            </a:pPr>
            <a:r>
              <a:rPr b="1" lang="en-US" sz="4000" spc="-1" strike="noStrike">
                <a:solidFill>
                  <a:srgbClr val="7030a0"/>
                </a:solidFill>
                <a:latin typeface="Agency FB"/>
              </a:rPr>
              <a:t>Ethical/human rights social responsibility</a:t>
            </a:r>
            <a:r>
              <a:rPr b="0" lang="en-US" sz="4000" spc="-1" strike="noStrike">
                <a:solidFill>
                  <a:srgbClr val="000000"/>
                </a:solidFill>
                <a:latin typeface="Calibri"/>
              </a:rPr>
              <a:t> </a:t>
            </a:r>
            <a:endParaRPr b="0" lang="en-US" sz="4000" spc="-1" strike="noStrike">
              <a:solidFill>
                <a:srgbClr val="000000"/>
              </a:solidFill>
              <a:latin typeface="Calibri"/>
            </a:endParaRPr>
          </a:p>
          <a:p>
            <a:pPr marL="343080" indent="-343080">
              <a:lnSpc>
                <a:spcPct val="100000"/>
              </a:lnSpc>
              <a:spcBef>
                <a:spcPts val="799"/>
              </a:spcBef>
              <a:buClr>
                <a:srgbClr val="ff0000"/>
              </a:buClr>
              <a:buFont typeface="Arial"/>
              <a:buChar char="•"/>
            </a:pPr>
            <a:r>
              <a:rPr b="0" lang="en-US" sz="4000" spc="-1" strike="noStrike">
                <a:solidFill>
                  <a:srgbClr val="ff0000"/>
                </a:solidFill>
                <a:latin typeface="Bahnschrift"/>
              </a:rPr>
              <a:t>Philanthropic corporate responsibility</a:t>
            </a:r>
            <a:r>
              <a:rPr b="0" lang="en-US" sz="4000" spc="-1" strike="noStrike">
                <a:solidFill>
                  <a:srgbClr val="000000"/>
                </a:solidFill>
                <a:latin typeface="Calibri"/>
              </a:rPr>
              <a:t> </a:t>
            </a:r>
            <a:endParaRPr b="0" lang="en-US" sz="4000" spc="-1" strike="noStrike">
              <a:solidFill>
                <a:srgbClr val="000000"/>
              </a:solidFill>
              <a:latin typeface="Calibri"/>
            </a:endParaRPr>
          </a:p>
          <a:p>
            <a:pPr marL="343080" indent="-343080">
              <a:lnSpc>
                <a:spcPct val="100000"/>
              </a:lnSpc>
              <a:spcBef>
                <a:spcPts val="799"/>
              </a:spcBef>
              <a:buClr>
                <a:srgbClr val="ffc000"/>
              </a:buClr>
              <a:buFont typeface="Arial"/>
              <a:buChar char="•"/>
            </a:pPr>
            <a:r>
              <a:rPr b="1" lang="en-US" sz="4000" spc="-1" strike="noStrike">
                <a:solidFill>
                  <a:srgbClr val="ffc000"/>
                </a:solidFill>
                <a:latin typeface="Calibri"/>
              </a:rPr>
              <a:t>Economic corporate responsibility</a:t>
            </a:r>
            <a:endParaRPr b="0" lang="en-US" sz="4000" spc="-1" strike="noStrike">
              <a:solidFill>
                <a:srgbClr val="000000"/>
              </a:solidFill>
              <a:latin typeface="Calibri"/>
            </a:endParaRPr>
          </a:p>
          <a:p>
            <a:pPr marL="343080" indent="-343080">
              <a:lnSpc>
                <a:spcPct val="100000"/>
              </a:lnSpc>
              <a:spcBef>
                <a:spcPts val="641"/>
              </a:spcBef>
              <a:buNone/>
              <a:tabLst>
                <a:tab algn="l" pos="0"/>
              </a:tabLst>
            </a:pPr>
            <a:endParaRPr b="0" lang="en-US" sz="3200" spc="-1" strike="noStrike">
              <a:solidFill>
                <a:srgbClr val="000000"/>
              </a:solidFill>
              <a:latin typeface="Calibri"/>
            </a:endParaRPr>
          </a:p>
        </p:txBody>
      </p:sp>
    </p:spTree>
  </p:cSld>
  <p:transition>
    <p:pull dir="d"/>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0" y="0"/>
            <a:ext cx="9143640" cy="837720"/>
          </a:xfrm>
          <a:prstGeom prst="rect">
            <a:avLst/>
          </a:prstGeom>
          <a:solidFill>
            <a:srgbClr val="e46c0a"/>
          </a:solidFill>
          <a:ln w="0">
            <a:noFill/>
          </a:ln>
        </p:spPr>
        <p:txBody>
          <a:bodyPr anchor="ctr">
            <a:normAutofit fontScale="42000"/>
          </a:bodyPr>
          <a:p>
            <a:pPr algn="ctr">
              <a:lnSpc>
                <a:spcPct val="100000"/>
              </a:lnSpc>
              <a:buNone/>
            </a:pPr>
            <a:br>
              <a:rPr sz="2700"/>
            </a:br>
            <a:r>
              <a:rPr b="1" lang="en-US" sz="2700" spc="-1" strike="noStrike">
                <a:solidFill>
                  <a:srgbClr val="000000"/>
                </a:solidFill>
                <a:latin typeface="Calibri"/>
              </a:rPr>
              <a:t>1. Environmental corporate responsibility</a:t>
            </a:r>
            <a:r>
              <a:rPr b="1" lang="en-US" sz="4400" spc="-1" strike="noStrike">
                <a:solidFill>
                  <a:srgbClr val="000000"/>
                </a:solidFill>
                <a:latin typeface="Calibri"/>
              </a:rPr>
              <a:t> </a:t>
            </a:r>
            <a:br>
              <a:rPr sz="4400"/>
            </a:br>
            <a:endParaRPr b="0" lang="en-US" sz="4400" spc="-1" strike="noStrike">
              <a:solidFill>
                <a:srgbClr val="000000"/>
              </a:solidFill>
              <a:latin typeface="Calibri"/>
            </a:endParaRPr>
          </a:p>
        </p:txBody>
      </p:sp>
      <p:sp>
        <p:nvSpPr>
          <p:cNvPr id="48" name="PlaceHolder 2"/>
          <p:cNvSpPr>
            <a:spLocks noGrp="1"/>
          </p:cNvSpPr>
          <p:nvPr>
            <p:ph/>
          </p:nvPr>
        </p:nvSpPr>
        <p:spPr>
          <a:xfrm>
            <a:off x="0" y="838080"/>
            <a:ext cx="9143640" cy="6019560"/>
          </a:xfrm>
          <a:prstGeom prst="rect">
            <a:avLst/>
          </a:prstGeom>
          <a:solidFill>
            <a:srgbClr val="b3a2c7"/>
          </a:solidFill>
          <a:ln w="0">
            <a:noFill/>
          </a:ln>
        </p:spPr>
        <p:txBody>
          <a:bodyPr anchor="t">
            <a:normAutofit fontScale="67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Environmental responsibility refers to the organization’s commitment to sustainability and environmentally friendly operations.</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Every year, more companies are prioritizing sustainable practices, pledging to consider their environmental impact at every stage of business.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This can mean reducing the company’s carbon footprint or greenhouse gas emissions, opting for sustainable resources by avoiding single-use plastics and keeping environmental aspects at the heart of all operations.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However, this environmental responsibility can extend past the company’s promise to sustainable development. If protecting the environment is a part of your corporate mission, you can honor that by encouraging employees to take action. </a:t>
            </a:r>
            <a:br>
              <a:rPr sz="3200"/>
            </a:br>
            <a:r>
              <a:rPr b="0" lang="en-US" sz="3200" spc="-1" strike="noStrike">
                <a:solidFill>
                  <a:srgbClr val="000000"/>
                </a:solidFill>
                <a:latin typeface="Calibri"/>
              </a:rPr>
              <a:t>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Follow along to learn how each type can engage employees, improve branding and make a positive social impact.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p:transition>
    <p:wipe dir="u"/>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9143640" cy="837720"/>
          </a:xfrm>
          <a:prstGeom prst="rect">
            <a:avLst/>
          </a:prstGeom>
          <a:solidFill>
            <a:srgbClr val="66ff33"/>
          </a:solidFill>
          <a:ln w="0">
            <a:noFill/>
          </a:ln>
        </p:spPr>
        <p:txBody>
          <a:bodyPr anchor="ctr">
            <a:normAutofit fontScale="42000"/>
          </a:bodyPr>
          <a:p>
            <a:pPr algn="ctr">
              <a:lnSpc>
                <a:spcPct val="100000"/>
              </a:lnSpc>
              <a:buNone/>
            </a:pPr>
            <a:br>
              <a:rPr sz="2700"/>
            </a:br>
            <a:r>
              <a:rPr b="1" lang="en-US" sz="2700" spc="-1" strike="noStrike">
                <a:solidFill>
                  <a:srgbClr val="000000"/>
                </a:solidFill>
                <a:latin typeface="Calibri"/>
              </a:rPr>
              <a:t>2.  Ethical/human rights social responsibility</a:t>
            </a:r>
            <a:r>
              <a:rPr b="1" lang="en-US" sz="4400" spc="-1" strike="noStrike">
                <a:solidFill>
                  <a:srgbClr val="000000"/>
                </a:solidFill>
                <a:latin typeface="Calibri"/>
              </a:rPr>
              <a:t> </a:t>
            </a:r>
            <a:br>
              <a:rPr sz="4400"/>
            </a:br>
            <a:endParaRPr b="0" lang="en-US" sz="4400" spc="-1" strike="noStrike">
              <a:solidFill>
                <a:srgbClr val="000000"/>
              </a:solidFill>
              <a:latin typeface="Calibri"/>
            </a:endParaRPr>
          </a:p>
        </p:txBody>
      </p:sp>
      <p:sp>
        <p:nvSpPr>
          <p:cNvPr id="50" name="PlaceHolder 2"/>
          <p:cNvSpPr>
            <a:spLocks noGrp="1"/>
          </p:cNvSpPr>
          <p:nvPr>
            <p:ph/>
          </p:nvPr>
        </p:nvSpPr>
        <p:spPr>
          <a:xfrm>
            <a:off x="0" y="838080"/>
            <a:ext cx="9143640" cy="6019560"/>
          </a:xfrm>
          <a:prstGeom prst="rect">
            <a:avLst/>
          </a:prstGeom>
          <a:solidFill>
            <a:srgbClr val="ffc000"/>
          </a:solidFill>
          <a:ln w="0">
            <a:noFill/>
          </a:ln>
        </p:spPr>
        <p:txBody>
          <a:bodyPr anchor="t">
            <a:normAutofit fontScale="85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Ethical responsibility refers to a company’s commitment to operate their business in an ethical manner that upholds human rights principles, such as fair treatment of all stakeholders, fair trade practices and equal pay.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To champion ethical responsibility, many businesses will speak up in the name of human rights injustices such as child labor, racial or gender discrimination and the fight for a higher minimum wage.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Much like with responsibility to the environment, there are ways to endorse ethics at your company by involving employees in the process.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p:transition>
    <p:dissolv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0" y="0"/>
            <a:ext cx="9143640" cy="914040"/>
          </a:xfrm>
          <a:prstGeom prst="rect">
            <a:avLst/>
          </a:prstGeom>
          <a:solidFill>
            <a:srgbClr val="b3a2c7"/>
          </a:solidFill>
          <a:ln w="0">
            <a:noFill/>
          </a:ln>
        </p:spPr>
        <p:txBody>
          <a:bodyPr anchor="ctr">
            <a:normAutofit fontScale="45000"/>
          </a:bodyPr>
          <a:p>
            <a:pPr algn="ctr">
              <a:lnSpc>
                <a:spcPct val="100000"/>
              </a:lnSpc>
              <a:buNone/>
            </a:pPr>
            <a:br>
              <a:rPr sz="3100"/>
            </a:br>
            <a:r>
              <a:rPr b="1" lang="en-US" sz="3100" spc="-1" strike="noStrike">
                <a:solidFill>
                  <a:srgbClr val="000000"/>
                </a:solidFill>
                <a:latin typeface="Calibri"/>
              </a:rPr>
              <a:t>3. Philanthropic corporate responsibility</a:t>
            </a:r>
            <a:r>
              <a:rPr b="1" lang="en-US" sz="4400" spc="-1" strike="noStrike">
                <a:solidFill>
                  <a:srgbClr val="000000"/>
                </a:solidFill>
                <a:latin typeface="Calibri"/>
              </a:rPr>
              <a:t> </a:t>
            </a:r>
            <a:br>
              <a:rPr sz="4400"/>
            </a:br>
            <a:endParaRPr b="0" lang="en-US" sz="4400" spc="-1" strike="noStrike">
              <a:solidFill>
                <a:srgbClr val="000000"/>
              </a:solidFill>
              <a:latin typeface="Calibri"/>
            </a:endParaRPr>
          </a:p>
        </p:txBody>
      </p:sp>
      <p:sp>
        <p:nvSpPr>
          <p:cNvPr id="52" name="PlaceHolder 2"/>
          <p:cNvSpPr>
            <a:spLocks noGrp="1"/>
          </p:cNvSpPr>
          <p:nvPr>
            <p:ph/>
          </p:nvPr>
        </p:nvSpPr>
        <p:spPr>
          <a:xfrm>
            <a:off x="0" y="914400"/>
            <a:ext cx="9143640" cy="5943240"/>
          </a:xfrm>
          <a:prstGeom prst="rect">
            <a:avLst/>
          </a:prstGeom>
          <a:solidFill>
            <a:srgbClr val="c3d69b"/>
          </a:solidFill>
          <a:ln w="0">
            <a:noFill/>
          </a:ln>
        </p:spPr>
        <p:txBody>
          <a:bodyPr anchor="t">
            <a:normAutofit fontScale="84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Philanthropic responsibility refers to a corporation’s aims, goals and objectives for actively bettering society as a whole. One huge aspect of corporate philanthropy is donating money from company earnings to worthy causes within the local community  often in the form of a trust or foundation.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These kinds of philanthropic efforts speak volumes to your public image as a business leader, which is crucial in today’s world. There are several ways in which businesses can incorporate CSR in the form of philanthropy while engaging employees, including giving schemes with the potential for donation matching.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p:transition>
    <p:wipe dir="d"/>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0" y="0"/>
            <a:ext cx="9143640" cy="990360"/>
          </a:xfrm>
          <a:prstGeom prst="rect">
            <a:avLst/>
          </a:prstGeom>
          <a:solidFill>
            <a:srgbClr val="d99694"/>
          </a:solidFill>
          <a:ln w="0">
            <a:noFill/>
          </a:ln>
        </p:spPr>
        <p:txBody>
          <a:bodyPr anchor="ctr">
            <a:normAutofit fontScale="61000"/>
          </a:bodyPr>
          <a:p>
            <a:pPr algn="ctr">
              <a:lnSpc>
                <a:spcPct val="100000"/>
              </a:lnSpc>
              <a:buNone/>
            </a:pPr>
            <a:br>
              <a:rPr sz="3200"/>
            </a:br>
            <a:r>
              <a:rPr b="1" lang="en-US" sz="3200" spc="-1" strike="noStrike">
                <a:solidFill>
                  <a:srgbClr val="000000"/>
                </a:solidFill>
                <a:latin typeface="Calibri"/>
              </a:rPr>
              <a:t>4. Economic corporate responsibility </a:t>
            </a:r>
            <a:br>
              <a:rPr sz="3200"/>
            </a:br>
            <a:endParaRPr b="0" lang="en-US" sz="3200" spc="-1" strike="noStrike">
              <a:solidFill>
                <a:srgbClr val="000000"/>
              </a:solidFill>
              <a:latin typeface="Calibri"/>
            </a:endParaRPr>
          </a:p>
        </p:txBody>
      </p:sp>
      <p:sp>
        <p:nvSpPr>
          <p:cNvPr id="54" name="PlaceHolder 2"/>
          <p:cNvSpPr>
            <a:spLocks noGrp="1"/>
          </p:cNvSpPr>
          <p:nvPr>
            <p:ph/>
          </p:nvPr>
        </p:nvSpPr>
        <p:spPr>
          <a:xfrm>
            <a:off x="0" y="990720"/>
            <a:ext cx="9143640" cy="5866920"/>
          </a:xfrm>
          <a:prstGeom prst="rect">
            <a:avLst/>
          </a:prstGeom>
          <a:solidFill>
            <a:srgbClr val="92d050"/>
          </a:solidFill>
          <a:ln w="0">
            <a:noFill/>
          </a:ln>
        </p:spPr>
        <p:txBody>
          <a:bodyPr anchor="t">
            <a:normAutofit fontScale="87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Economic responsibility refers to the practice of making financial decisions based on a commitment to doing good.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Some common examples of economic responsibility include investing in alternative energy sources, putting more money into education programs and funding local charities as a way of bolstering their mission.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To uphold economic responsibility, business leaders are challenged to think past operational cost savings and instead put their obligation to corporate citizenship at the heart of all financial decisions.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0" y="0"/>
            <a:ext cx="9143640" cy="914040"/>
          </a:xfrm>
          <a:prstGeom prst="rect">
            <a:avLst/>
          </a:prstGeom>
          <a:solidFill>
            <a:srgbClr val="ffff00"/>
          </a:solidFill>
          <a:ln w="0">
            <a:noFill/>
          </a:ln>
        </p:spPr>
        <p:txBody>
          <a:bodyPr anchor="ctr">
            <a:normAutofit fontScale="46000"/>
          </a:bodyPr>
          <a:p>
            <a:pPr algn="ctr">
              <a:lnSpc>
                <a:spcPct val="100000"/>
              </a:lnSpc>
              <a:buNone/>
            </a:pPr>
            <a:br>
              <a:rPr sz="3600"/>
            </a:br>
            <a:r>
              <a:rPr b="1" lang="en-US" sz="3600" spc="-1" strike="noStrike">
                <a:solidFill>
                  <a:srgbClr val="000000"/>
                </a:solidFill>
                <a:latin typeface="Calibri"/>
              </a:rPr>
              <a:t>Principles of Corporate Ethics</a:t>
            </a:r>
            <a:br>
              <a:rPr sz="4400"/>
            </a:br>
            <a:endParaRPr b="0" lang="en-US" sz="3600" spc="-1" strike="noStrike">
              <a:solidFill>
                <a:srgbClr val="000000"/>
              </a:solidFill>
              <a:latin typeface="Calibri"/>
            </a:endParaRPr>
          </a:p>
        </p:txBody>
      </p:sp>
      <p:sp>
        <p:nvSpPr>
          <p:cNvPr id="56" name="PlaceHolder 2"/>
          <p:cNvSpPr>
            <a:spLocks noGrp="1"/>
          </p:cNvSpPr>
          <p:nvPr>
            <p:ph/>
          </p:nvPr>
        </p:nvSpPr>
        <p:spPr>
          <a:xfrm>
            <a:off x="0" y="914400"/>
            <a:ext cx="9143640" cy="5943240"/>
          </a:xfrm>
          <a:prstGeom prst="rect">
            <a:avLst/>
          </a:prstGeom>
          <a:solidFill>
            <a:srgbClr val="d99694"/>
          </a:solidFill>
          <a:ln w="0">
            <a:noFill/>
          </a:ln>
        </p:spPr>
        <p:txBody>
          <a:bodyPr anchor="t">
            <a:normAutofit fontScale="82000"/>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Calibri"/>
              </a:rPr>
              <a:t>Understanding and implementing ethical principles is fundamental for both individuals and businesses. These principles serve as </a:t>
            </a:r>
            <a:r>
              <a:rPr b="0" lang="en-US" sz="3900" spc="-1" strike="noStrike">
                <a:solidFill>
                  <a:srgbClr val="000000"/>
                </a:solidFill>
                <a:latin typeface="Calibri"/>
              </a:rPr>
              <a:t>guiding</a:t>
            </a:r>
            <a:r>
              <a:rPr b="0" lang="en-US" sz="4000" spc="-1" strike="noStrike">
                <a:solidFill>
                  <a:srgbClr val="000000"/>
                </a:solidFill>
                <a:latin typeface="Calibri"/>
              </a:rPr>
              <a:t> lights, steering decisions and behaviours toward integrity, fairness, and responsibility. Failure to adhere to ethical standards can lead to the downfall of not just individuals but entire organizations. Let’s delve into each of the 12 Corporate Ethics principles in detail:</a:t>
            </a:r>
            <a:endParaRPr b="0" lang="en-US" sz="40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p:transition>
    <p:wipe dir="l"/>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0" y="0"/>
            <a:ext cx="9143640" cy="990360"/>
          </a:xfrm>
          <a:prstGeom prst="rect">
            <a:avLst/>
          </a:prstGeom>
          <a:solidFill>
            <a:srgbClr val="e46c0a"/>
          </a:solidFill>
          <a:ln w="0">
            <a:noFill/>
          </a:ln>
        </p:spPr>
        <p:txBody>
          <a:bodyPr anchor="ctr">
            <a:noAutofit/>
          </a:bodyPr>
          <a:p>
            <a:pPr algn="ctr">
              <a:lnSpc>
                <a:spcPct val="100000"/>
              </a:lnSpc>
              <a:buNone/>
            </a:pPr>
            <a:r>
              <a:rPr b="1" lang="en-US" sz="4400" spc="-1" strike="noStrike">
                <a:solidFill>
                  <a:srgbClr val="000000"/>
                </a:solidFill>
                <a:latin typeface="Arial"/>
              </a:rPr>
              <a:t>1.Leadership</a:t>
            </a:r>
            <a:endParaRPr b="0" lang="en-US" sz="4400" spc="-1" strike="noStrike">
              <a:solidFill>
                <a:srgbClr val="000000"/>
              </a:solidFill>
              <a:latin typeface="Calibri"/>
            </a:endParaRPr>
          </a:p>
        </p:txBody>
      </p:sp>
      <p:sp>
        <p:nvSpPr>
          <p:cNvPr id="58" name="PlaceHolder 2"/>
          <p:cNvSpPr>
            <a:spLocks noGrp="1"/>
          </p:cNvSpPr>
          <p:nvPr>
            <p:ph/>
          </p:nvPr>
        </p:nvSpPr>
        <p:spPr>
          <a:xfrm>
            <a:off x="0" y="990720"/>
            <a:ext cx="9143640" cy="5866920"/>
          </a:xfrm>
          <a:prstGeom prst="rect">
            <a:avLst/>
          </a:prstGeom>
          <a:solidFill>
            <a:srgbClr val="8064a2"/>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Ethical leadership involves consciously integrating and embodying the other 11 principles into decision-making processes. Leaders set the tone for ethical behaviour within an organization, influencing both employees and stakeholders.</a:t>
            </a:r>
            <a:endParaRPr b="0" lang="en-US" sz="4000" spc="-1" strike="noStrike">
              <a:solidFill>
                <a:srgbClr val="000000"/>
              </a:solidFill>
              <a:latin typeface="Calibri"/>
            </a:endParaRPr>
          </a:p>
        </p:txBody>
      </p:sp>
    </p:spTree>
  </p:cSld>
  <p:transition>
    <p:wipe dir="r"/>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0" y="0"/>
            <a:ext cx="9143640" cy="1417320"/>
          </a:xfrm>
          <a:prstGeom prst="rect">
            <a:avLst/>
          </a:prstGeom>
          <a:solidFill>
            <a:srgbClr val="c0504d"/>
          </a:solidFill>
          <a:ln w="0">
            <a:noFill/>
          </a:ln>
        </p:spPr>
        <p:txBody>
          <a:bodyPr anchor="ctr">
            <a:noAutofit/>
          </a:bodyPr>
          <a:p>
            <a:pPr algn="ctr">
              <a:lnSpc>
                <a:spcPct val="100000"/>
              </a:lnSpc>
              <a:buNone/>
            </a:pPr>
            <a:r>
              <a:rPr b="1" lang="en-US" sz="4400" spc="-1" strike="noStrike">
                <a:solidFill>
                  <a:srgbClr val="000000"/>
                </a:solidFill>
                <a:latin typeface="Bookman Old Style"/>
              </a:rPr>
              <a:t>2.Accountability</a:t>
            </a:r>
            <a:endParaRPr b="0" lang="en-US" sz="4400" spc="-1" strike="noStrike">
              <a:solidFill>
                <a:srgbClr val="000000"/>
              </a:solidFill>
              <a:latin typeface="Calibri"/>
            </a:endParaRPr>
          </a:p>
        </p:txBody>
      </p:sp>
      <p:sp>
        <p:nvSpPr>
          <p:cNvPr id="60" name="PlaceHolder 2"/>
          <p:cNvSpPr>
            <a:spLocks noGrp="1"/>
          </p:cNvSpPr>
          <p:nvPr>
            <p:ph/>
          </p:nvPr>
        </p:nvSpPr>
        <p:spPr>
          <a:xfrm>
            <a:off x="0" y="1447920"/>
            <a:ext cx="9143640" cy="5409720"/>
          </a:xfrm>
          <a:prstGeom prst="rect">
            <a:avLst/>
          </a:prstGeom>
          <a:solidFill>
            <a:srgbClr val="92d050"/>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Holding oneself and others responsible for their actions is essential for maintaining ethical standards. This principle emphasizes the commitment to following ethical practices and ensuring that others within the organization do the same.</a:t>
            </a:r>
            <a:endParaRPr b="0" lang="en-US" sz="4000" spc="-1" strike="noStrike">
              <a:solidFill>
                <a:srgbClr val="000000"/>
              </a:solidFill>
              <a:latin typeface="Calibri"/>
            </a:endParaRPr>
          </a:p>
        </p:txBody>
      </p:sp>
    </p:spTree>
  </p:cSld>
  <p:transition>
    <p:wipe dir="u"/>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0" y="0"/>
            <a:ext cx="9143640" cy="990360"/>
          </a:xfrm>
          <a:prstGeom prst="rect">
            <a:avLst/>
          </a:prstGeom>
          <a:solidFill>
            <a:srgbClr val="00b050"/>
          </a:solidFill>
          <a:ln w="0">
            <a:noFill/>
          </a:ln>
        </p:spPr>
        <p:txBody>
          <a:bodyPr anchor="ctr">
            <a:normAutofit/>
          </a:bodyPr>
          <a:p>
            <a:pPr algn="ctr">
              <a:lnSpc>
                <a:spcPct val="100000"/>
              </a:lnSpc>
              <a:buNone/>
            </a:pPr>
            <a:r>
              <a:rPr b="1" lang="en-US" sz="4800" spc="-1" strike="noStrike">
                <a:solidFill>
                  <a:srgbClr val="000000"/>
                </a:solidFill>
                <a:latin typeface="Bookman Old Style"/>
              </a:rPr>
              <a:t>3.Integrity</a:t>
            </a:r>
            <a:endParaRPr b="0" lang="en-US" sz="4800" spc="-1" strike="noStrike">
              <a:solidFill>
                <a:srgbClr val="000000"/>
              </a:solidFill>
              <a:latin typeface="Calibri"/>
            </a:endParaRPr>
          </a:p>
        </p:txBody>
      </p:sp>
      <p:sp>
        <p:nvSpPr>
          <p:cNvPr id="62" name="PlaceHolder 2"/>
          <p:cNvSpPr>
            <a:spLocks noGrp="1"/>
          </p:cNvSpPr>
          <p:nvPr>
            <p:ph/>
          </p:nvPr>
        </p:nvSpPr>
        <p:spPr>
          <a:xfrm>
            <a:off x="0" y="990720"/>
            <a:ext cx="9143640" cy="5866920"/>
          </a:xfrm>
          <a:prstGeom prst="rect">
            <a:avLst/>
          </a:prstGeom>
          <a:solidFill>
            <a:srgbClr val="d99694"/>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Integrity encompasses honesty, trustworthiness, and reliability. Individuals with integrity consistently do the right thing, even when it’s difficult, and strive to uphold themselves to a higher standard of behaviour</a:t>
            </a:r>
            <a:endParaRPr b="0" lang="en-US" sz="4000" spc="-1" strike="noStrike">
              <a:solidFill>
                <a:srgbClr val="000000"/>
              </a:solidFill>
              <a:latin typeface="Calibri"/>
            </a:endParaRPr>
          </a:p>
        </p:txBody>
      </p:sp>
    </p:spTree>
  </p:cSld>
  <p:transition>
    <p:wedg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0" y="0"/>
            <a:ext cx="9143640" cy="1417320"/>
          </a:xfrm>
          <a:prstGeom prst="rect">
            <a:avLst/>
          </a:prstGeom>
          <a:solidFill>
            <a:srgbClr val="c0504d"/>
          </a:solidFill>
          <a:ln w="0">
            <a:noFill/>
          </a:ln>
        </p:spPr>
        <p:txBody>
          <a:bodyPr anchor="ctr">
            <a:noAutofit/>
          </a:bodyPr>
          <a:p>
            <a:pPr algn="ctr">
              <a:lnSpc>
                <a:spcPct val="100000"/>
              </a:lnSpc>
              <a:buNone/>
            </a:pPr>
            <a:r>
              <a:rPr b="1" lang="en-US" sz="4400" spc="-1" strike="noStrike">
                <a:solidFill>
                  <a:srgbClr val="000000"/>
                </a:solidFill>
                <a:latin typeface="Bookman Old Style"/>
              </a:rPr>
              <a:t>4.Respect for Others</a:t>
            </a:r>
            <a:endParaRPr b="0" lang="en-US" sz="4400" spc="-1" strike="noStrike">
              <a:solidFill>
                <a:srgbClr val="000000"/>
              </a:solidFill>
              <a:latin typeface="Calibri"/>
            </a:endParaRPr>
          </a:p>
        </p:txBody>
      </p:sp>
      <p:sp>
        <p:nvSpPr>
          <p:cNvPr id="64" name="PlaceHolder 2"/>
          <p:cNvSpPr>
            <a:spLocks noGrp="1"/>
          </p:cNvSpPr>
          <p:nvPr>
            <p:ph/>
          </p:nvPr>
        </p:nvSpPr>
        <p:spPr>
          <a:xfrm>
            <a:off x="0" y="1447920"/>
            <a:ext cx="9143640" cy="5409720"/>
          </a:xfrm>
          <a:prstGeom prst="rect">
            <a:avLst/>
          </a:prstGeom>
          <a:solidFill>
            <a:srgbClr val="00b050"/>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Building an ethical workplace environment involves respecting the dignity, privacy, and equality of all individuals. This principle promotes compassion and empathy towards colleagues, customers, and the community at large.</a:t>
            </a:r>
            <a:endParaRPr b="0" lang="en-US" sz="4000" spc="-1" strike="noStrike">
              <a:solidFill>
                <a:srgbClr val="000000"/>
              </a:solidFill>
              <a:latin typeface="Calibri"/>
            </a:endParaRPr>
          </a:p>
        </p:txBody>
      </p:sp>
    </p:spTree>
  </p:cSld>
  <p:transition>
    <p:wedg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0" y="0"/>
            <a:ext cx="9143640" cy="1417320"/>
          </a:xfrm>
          <a:prstGeom prst="rect">
            <a:avLst/>
          </a:prstGeom>
          <a:solidFill>
            <a:srgbClr val="00b050"/>
          </a:solidFill>
          <a:ln w="0">
            <a:noFill/>
          </a:ln>
        </p:spPr>
        <p:txBody>
          <a:bodyPr anchor="ctr">
            <a:noAutofit/>
          </a:bodyPr>
          <a:p>
            <a:pPr algn="ctr">
              <a:lnSpc>
                <a:spcPct val="100000"/>
              </a:lnSpc>
              <a:buNone/>
            </a:pPr>
            <a:r>
              <a:rPr b="1" lang="en-US" sz="4400" spc="-1" strike="noStrike">
                <a:solidFill>
                  <a:srgbClr val="000000"/>
                </a:solidFill>
                <a:latin typeface="Bookman Old Style"/>
              </a:rPr>
              <a:t>5.Honesty</a:t>
            </a:r>
            <a:endParaRPr b="0" lang="en-US" sz="4400" spc="-1" strike="noStrike">
              <a:solidFill>
                <a:srgbClr val="000000"/>
              </a:solidFill>
              <a:latin typeface="Calibri"/>
            </a:endParaRPr>
          </a:p>
        </p:txBody>
      </p:sp>
      <p:sp>
        <p:nvSpPr>
          <p:cNvPr id="66" name="PlaceHolder 2"/>
          <p:cNvSpPr>
            <a:spLocks noGrp="1"/>
          </p:cNvSpPr>
          <p:nvPr>
            <p:ph/>
          </p:nvPr>
        </p:nvSpPr>
        <p:spPr>
          <a:xfrm>
            <a:off x="0" y="1447920"/>
            <a:ext cx="9143640" cy="5409720"/>
          </a:xfrm>
          <a:prstGeom prst="rect">
            <a:avLst/>
          </a:prstGeom>
          <a:solidFill>
            <a:srgbClr val="00b0f0"/>
          </a:solidFill>
          <a:ln w="0">
            <a:noFill/>
          </a:ln>
        </p:spPr>
        <p:txBody>
          <a:bodyPr anchor="t">
            <a:noAutofit/>
          </a:bodyPr>
          <a:p>
            <a:pPr marL="343080" indent="-343080">
              <a:lnSpc>
                <a:spcPct val="100000"/>
              </a:lnSpc>
              <a:spcBef>
                <a:spcPts val="799"/>
              </a:spcBef>
              <a:buNone/>
              <a:tabLst>
                <a:tab algn="l" pos="0"/>
              </a:tabLst>
            </a:pPr>
            <a:r>
              <a:rPr b="0" lang="en-US" sz="3200" spc="-1" strike="noStrike">
                <a:solidFill>
                  <a:srgbClr val="000000"/>
                </a:solidFill>
                <a:latin typeface="Calibri"/>
              </a:rPr>
              <a:t>   </a:t>
            </a:r>
            <a:r>
              <a:rPr b="0" lang="en-US" sz="4000" spc="-1" strike="noStrike">
                <a:solidFill>
                  <a:srgbClr val="000000"/>
                </a:solidFill>
                <a:latin typeface="Bookman Old Style"/>
              </a:rPr>
              <a:t>Truthfulness in all matters is crucial for fostering trust and transparency. It involves communicating both good and bad news openly and honestly, without withholding information or distorting the truth.</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0" y="0"/>
            <a:ext cx="9143640" cy="1417320"/>
          </a:xfrm>
          <a:prstGeom prst="rect">
            <a:avLst/>
          </a:prstGeom>
          <a:solidFill>
            <a:srgbClr val="558ed5"/>
          </a:solidFill>
          <a:ln w="0">
            <a:noFill/>
          </a:ln>
        </p:spPr>
        <p:txBody>
          <a:bodyPr anchor="ctr">
            <a:noAutofit/>
          </a:bodyPr>
          <a:p>
            <a:pPr algn="ctr">
              <a:lnSpc>
                <a:spcPct val="100000"/>
              </a:lnSpc>
              <a:buNone/>
            </a:pPr>
            <a:r>
              <a:rPr b="1" lang="en-US" sz="4400" spc="-1" strike="noStrike">
                <a:solidFill>
                  <a:srgbClr val="000000"/>
                </a:solidFill>
                <a:latin typeface="Bookman Old Style"/>
              </a:rPr>
              <a:t>6.Respect for Laws</a:t>
            </a:r>
            <a:endParaRPr b="0" lang="en-US" sz="4400" spc="-1" strike="noStrike">
              <a:solidFill>
                <a:srgbClr val="000000"/>
              </a:solidFill>
              <a:latin typeface="Calibri"/>
            </a:endParaRPr>
          </a:p>
        </p:txBody>
      </p:sp>
      <p:sp>
        <p:nvSpPr>
          <p:cNvPr id="68" name="PlaceHolder 2"/>
          <p:cNvSpPr>
            <a:spLocks noGrp="1"/>
          </p:cNvSpPr>
          <p:nvPr>
            <p:ph/>
          </p:nvPr>
        </p:nvSpPr>
        <p:spPr>
          <a:xfrm>
            <a:off x="360000" y="1620000"/>
            <a:ext cx="9143640" cy="5409720"/>
          </a:xfrm>
          <a:prstGeom prst="rect">
            <a:avLst/>
          </a:prstGeom>
          <a:solidFill>
            <a:srgbClr val="d99694"/>
          </a:solidFill>
          <a:ln w="0">
            <a:noFill/>
          </a:ln>
        </p:spPr>
        <p:txBody>
          <a:bodyPr anchor="t">
            <a:normAutofit/>
          </a:bodyPr>
          <a:p>
            <a:pPr marL="343080" indent="-343080">
              <a:lnSpc>
                <a:spcPct val="100000"/>
              </a:lnSpc>
              <a:spcBef>
                <a:spcPts val="879"/>
              </a:spcBef>
              <a:buClr>
                <a:srgbClr val="000000"/>
              </a:buClr>
              <a:buFont typeface="Arial"/>
              <a:buChar char="•"/>
            </a:pPr>
            <a:r>
              <a:rPr b="0" lang="en-US" sz="4400" spc="-1" strike="noStrike">
                <a:solidFill>
                  <a:srgbClr val="000000"/>
                </a:solidFill>
                <a:latin typeface="Bookman Old Style"/>
              </a:rPr>
              <a:t>Ethical leadership includes compliance with all relevant laws and regulations. Leaders should prioritize legality over exploiting legal grey areas to ensure fairness and justice.</a:t>
            </a:r>
            <a:endParaRPr b="0" lang="en-US" sz="4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0" y="0"/>
            <a:ext cx="9143640" cy="1417320"/>
          </a:xfrm>
          <a:prstGeom prst="rect">
            <a:avLst/>
          </a:prstGeom>
          <a:solidFill>
            <a:srgbClr val="92d050"/>
          </a:solidFill>
          <a:ln w="0">
            <a:noFill/>
          </a:ln>
        </p:spPr>
        <p:txBody>
          <a:bodyPr anchor="ctr">
            <a:noAutofit/>
          </a:bodyPr>
          <a:p>
            <a:pPr algn="ctr">
              <a:lnSpc>
                <a:spcPct val="100000"/>
              </a:lnSpc>
              <a:buNone/>
            </a:pPr>
            <a:r>
              <a:rPr b="1" lang="en-US" sz="4400" spc="-1" strike="noStrike">
                <a:solidFill>
                  <a:srgbClr val="000000"/>
                </a:solidFill>
                <a:latin typeface="Bookman Old Style"/>
              </a:rPr>
              <a:t>7.Responsibility</a:t>
            </a:r>
            <a:endParaRPr b="0" lang="en-US" sz="4400" spc="-1" strike="noStrike">
              <a:solidFill>
                <a:srgbClr val="000000"/>
              </a:solidFill>
              <a:latin typeface="Calibri"/>
            </a:endParaRPr>
          </a:p>
        </p:txBody>
      </p:sp>
      <p:sp>
        <p:nvSpPr>
          <p:cNvPr id="70" name="PlaceHolder 2"/>
          <p:cNvSpPr>
            <a:spLocks noGrp="1"/>
          </p:cNvSpPr>
          <p:nvPr>
            <p:ph/>
          </p:nvPr>
        </p:nvSpPr>
        <p:spPr>
          <a:xfrm>
            <a:off x="0" y="1447920"/>
            <a:ext cx="9143640" cy="5409720"/>
          </a:xfrm>
          <a:prstGeom prst="rect">
            <a:avLst/>
          </a:prstGeom>
          <a:solidFill>
            <a:srgbClr val="b3a2c7"/>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Encouraging a culture of ownership and accountability within the organization empowers employees to take responsibility for their actions and outcomes. Leaders should lead by example and hold themselves accountable for their decisions.</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0" y="0"/>
            <a:ext cx="9143640" cy="1066320"/>
          </a:xfrm>
          <a:prstGeom prst="rect">
            <a:avLst/>
          </a:prstGeom>
          <a:solidFill>
            <a:srgbClr val="00b0f0"/>
          </a:solidFill>
          <a:ln w="0">
            <a:noFill/>
          </a:ln>
        </p:spPr>
        <p:txBody>
          <a:bodyPr anchor="ctr">
            <a:noAutofit/>
          </a:bodyPr>
          <a:p>
            <a:pPr algn="ctr">
              <a:lnSpc>
                <a:spcPct val="100000"/>
              </a:lnSpc>
              <a:buNone/>
            </a:pPr>
            <a:r>
              <a:rPr b="1" lang="en-US" sz="4400" spc="-1" strike="noStrike">
                <a:solidFill>
                  <a:srgbClr val="000000"/>
                </a:solidFill>
                <a:latin typeface="Bookman Old Style"/>
              </a:rPr>
              <a:t>8.Transparency</a:t>
            </a:r>
            <a:endParaRPr b="0" lang="en-US" sz="4400" spc="-1" strike="noStrike">
              <a:solidFill>
                <a:srgbClr val="000000"/>
              </a:solidFill>
              <a:latin typeface="Calibri"/>
            </a:endParaRPr>
          </a:p>
        </p:txBody>
      </p:sp>
      <p:sp>
        <p:nvSpPr>
          <p:cNvPr id="72" name="PlaceHolder 2"/>
          <p:cNvSpPr>
            <a:spLocks noGrp="1"/>
          </p:cNvSpPr>
          <p:nvPr>
            <p:ph/>
          </p:nvPr>
        </p:nvSpPr>
        <p:spPr>
          <a:xfrm>
            <a:off x="0" y="1066680"/>
            <a:ext cx="9143640" cy="5790960"/>
          </a:xfrm>
          <a:prstGeom prst="rect">
            <a:avLst/>
          </a:prstGeom>
          <a:solidFill>
            <a:srgbClr val="fcd5b5"/>
          </a:solidFill>
          <a:ln w="0">
            <a:noFill/>
          </a:ln>
        </p:spPr>
        <p:txBody>
          <a:bodyPr anchor="t">
            <a:no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Transparency involves sharing relevant information with stakeholders, such as shareholders, employees, and the community, without compromising confidentiality or trade secrets. Open communication fosters trust and accountability.</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0" y="0"/>
            <a:ext cx="9143640" cy="1417320"/>
          </a:xfrm>
          <a:prstGeom prst="rect">
            <a:avLst/>
          </a:prstGeom>
          <a:solidFill>
            <a:srgbClr val="558ed5"/>
          </a:solidFill>
          <a:ln w="0">
            <a:noFill/>
          </a:ln>
        </p:spPr>
        <p:txBody>
          <a:bodyPr anchor="ctr">
            <a:noAutofit/>
          </a:bodyPr>
          <a:p>
            <a:pPr algn="ctr">
              <a:lnSpc>
                <a:spcPct val="100000"/>
              </a:lnSpc>
              <a:buNone/>
            </a:pPr>
            <a:r>
              <a:rPr b="1" lang="en-US" sz="4400" spc="-1" strike="noStrike">
                <a:solidFill>
                  <a:srgbClr val="000000"/>
                </a:solidFill>
                <a:latin typeface="Bookman Old Style"/>
              </a:rPr>
              <a:t>9.Compassion</a:t>
            </a:r>
            <a:endParaRPr b="0" lang="en-US" sz="4400" spc="-1" strike="noStrike">
              <a:solidFill>
                <a:srgbClr val="000000"/>
              </a:solidFill>
              <a:latin typeface="Calibri"/>
            </a:endParaRPr>
          </a:p>
        </p:txBody>
      </p:sp>
      <p:sp>
        <p:nvSpPr>
          <p:cNvPr id="74" name="PlaceHolder 2"/>
          <p:cNvSpPr>
            <a:spLocks noGrp="1"/>
          </p:cNvSpPr>
          <p:nvPr>
            <p:ph/>
          </p:nvPr>
        </p:nvSpPr>
        <p:spPr>
          <a:xfrm>
            <a:off x="0" y="1447920"/>
            <a:ext cx="9143640" cy="5409720"/>
          </a:xfrm>
          <a:prstGeom prst="rect">
            <a:avLst/>
          </a:prstGeom>
          <a:solidFill>
            <a:srgbClr val="c3d69b"/>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Demonstrating concern for the well-being of others, including employees, customers, and the broader community, is integral to ethical behaviour. Compassion promotes empathy and understanding in all interactions</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0" y="0"/>
            <a:ext cx="9143640" cy="1218960"/>
          </a:xfrm>
          <a:prstGeom prst="rect">
            <a:avLst/>
          </a:prstGeom>
          <a:solidFill>
            <a:srgbClr val="ffc000"/>
          </a:solidFill>
          <a:ln w="0">
            <a:noFill/>
          </a:ln>
        </p:spPr>
        <p:txBody>
          <a:bodyPr anchor="ctr">
            <a:noAutofit/>
          </a:bodyPr>
          <a:p>
            <a:pPr algn="ctr">
              <a:lnSpc>
                <a:spcPct val="100000"/>
              </a:lnSpc>
              <a:buNone/>
            </a:pPr>
            <a:r>
              <a:rPr b="1" lang="en-US" sz="4400" spc="-1" strike="noStrike">
                <a:solidFill>
                  <a:srgbClr val="000000"/>
                </a:solidFill>
                <a:latin typeface="Bookman Old Style"/>
              </a:rPr>
              <a:t>10.Fairness</a:t>
            </a:r>
            <a:endParaRPr b="0" lang="en-US" sz="4400" spc="-1" strike="noStrike">
              <a:solidFill>
                <a:srgbClr val="000000"/>
              </a:solidFill>
              <a:latin typeface="Calibri"/>
            </a:endParaRPr>
          </a:p>
        </p:txBody>
      </p:sp>
      <p:sp>
        <p:nvSpPr>
          <p:cNvPr id="76" name="PlaceHolder 2"/>
          <p:cNvSpPr>
            <a:spLocks noGrp="1"/>
          </p:cNvSpPr>
          <p:nvPr>
            <p:ph/>
          </p:nvPr>
        </p:nvSpPr>
        <p:spPr>
          <a:xfrm>
            <a:off x="0" y="1219320"/>
            <a:ext cx="9143640" cy="5638320"/>
          </a:xfrm>
          <a:prstGeom prst="rect">
            <a:avLst/>
          </a:prstGeom>
          <a:solidFill>
            <a:srgbClr val="b3a2c7"/>
          </a:solidFill>
          <a:ln w="0">
            <a:noFill/>
          </a:ln>
        </p:spPr>
        <p:txBody>
          <a:bodyPr anchor="t">
            <a:normAutofit/>
          </a:bodyPr>
          <a:p>
            <a:pPr marL="343080" indent="-343080">
              <a:lnSpc>
                <a:spcPct val="100000"/>
              </a:lnSpc>
              <a:spcBef>
                <a:spcPts val="879"/>
              </a:spcBef>
              <a:buClr>
                <a:srgbClr val="000000"/>
              </a:buClr>
              <a:buFont typeface="Arial"/>
              <a:buChar char="•"/>
            </a:pPr>
            <a:r>
              <a:rPr b="0" lang="en-US" sz="4400" spc="-1" strike="noStrike">
                <a:solidFill>
                  <a:srgbClr val="000000"/>
                </a:solidFill>
                <a:latin typeface="Bookman Old Style"/>
              </a:rPr>
              <a:t>Ensuring fairness involves treating all individuals with equality and respect, regardless of their background or status. Fair practices promote trust and cohesion within the organization.</a:t>
            </a:r>
            <a:endParaRPr b="0" lang="en-US" sz="4400" spc="-1" strike="noStrike">
              <a:solidFill>
                <a:srgbClr val="000000"/>
              </a:solidFill>
              <a:latin typeface="Calibri"/>
            </a:endParaRPr>
          </a:p>
        </p:txBody>
      </p:sp>
    </p:spTree>
  </p:cSld>
  <p:transition>
    <p:pull dir="d"/>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0" y="0"/>
            <a:ext cx="9143640" cy="1417320"/>
          </a:xfrm>
          <a:prstGeom prst="rect">
            <a:avLst/>
          </a:prstGeom>
          <a:solidFill>
            <a:srgbClr val="7030a0"/>
          </a:solidFill>
          <a:ln w="0">
            <a:noFill/>
          </a:ln>
        </p:spPr>
        <p:txBody>
          <a:bodyPr anchor="ctr">
            <a:noAutofit/>
          </a:bodyPr>
          <a:p>
            <a:pPr algn="ctr">
              <a:lnSpc>
                <a:spcPct val="100000"/>
              </a:lnSpc>
              <a:buNone/>
            </a:pPr>
            <a:r>
              <a:rPr b="1" lang="en-US" sz="4400" spc="-1" strike="noStrike">
                <a:solidFill>
                  <a:srgbClr val="000000"/>
                </a:solidFill>
                <a:latin typeface="Bookman Old Style"/>
              </a:rPr>
              <a:t>11.Loyalty</a:t>
            </a:r>
            <a:endParaRPr b="0" lang="en-US" sz="4400" spc="-1" strike="noStrike">
              <a:solidFill>
                <a:srgbClr val="000000"/>
              </a:solidFill>
              <a:latin typeface="Calibri"/>
            </a:endParaRPr>
          </a:p>
        </p:txBody>
      </p:sp>
      <p:sp>
        <p:nvSpPr>
          <p:cNvPr id="78" name="PlaceHolder 2"/>
          <p:cNvSpPr>
            <a:spLocks noGrp="1"/>
          </p:cNvSpPr>
          <p:nvPr>
            <p:ph/>
          </p:nvPr>
        </p:nvSpPr>
        <p:spPr>
          <a:xfrm>
            <a:off x="0" y="1447920"/>
            <a:ext cx="9143640" cy="5409720"/>
          </a:xfrm>
          <a:prstGeom prst="rect">
            <a:avLst/>
          </a:prstGeom>
          <a:solidFill>
            <a:srgbClr val="93cddd"/>
          </a:solidFill>
          <a:ln w="0">
            <a:noFill/>
          </a:ln>
        </p:spPr>
        <p:txBody>
          <a:bodyPr anchor="t">
            <a:no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Ethical leaders demonstrate loyalty to their employees and the company by maintaining confidentiality and fostering a sense of commitment and dedication among team members</a:t>
            </a:r>
            <a:r>
              <a:rPr b="0" lang="en-US" sz="3200" spc="-1" strike="noStrike">
                <a:solidFill>
                  <a:srgbClr val="000000"/>
                </a:solidFill>
                <a:latin typeface="Calibri"/>
              </a:rPr>
              <a:t>.</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p:transition>
    <p:wedg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0" y="0"/>
            <a:ext cx="9143640" cy="1417320"/>
          </a:xfrm>
          <a:prstGeom prst="rect">
            <a:avLst/>
          </a:prstGeom>
          <a:solidFill>
            <a:srgbClr val="e46c0a"/>
          </a:solidFill>
          <a:ln w="0">
            <a:noFill/>
          </a:ln>
        </p:spPr>
        <p:txBody>
          <a:bodyPr anchor="ctr">
            <a:noAutofit/>
          </a:bodyPr>
          <a:p>
            <a:pPr algn="ctr">
              <a:lnSpc>
                <a:spcPct val="100000"/>
              </a:lnSpc>
              <a:buNone/>
            </a:pPr>
            <a:r>
              <a:rPr b="1" lang="en-US" sz="4400" spc="-1" strike="noStrike">
                <a:solidFill>
                  <a:srgbClr val="000000"/>
                </a:solidFill>
                <a:latin typeface="Bookman Old Style"/>
              </a:rPr>
              <a:t>12.Environmental Concern</a:t>
            </a:r>
            <a:endParaRPr b="0" lang="en-US" sz="4400" spc="-1" strike="noStrike">
              <a:solidFill>
                <a:srgbClr val="000000"/>
              </a:solidFill>
              <a:latin typeface="Calibri"/>
            </a:endParaRPr>
          </a:p>
        </p:txBody>
      </p:sp>
      <p:sp>
        <p:nvSpPr>
          <p:cNvPr id="80" name="PlaceHolder 2"/>
          <p:cNvSpPr>
            <a:spLocks noGrp="1"/>
          </p:cNvSpPr>
          <p:nvPr>
            <p:ph/>
          </p:nvPr>
        </p:nvSpPr>
        <p:spPr>
          <a:xfrm>
            <a:off x="0" y="1447920"/>
            <a:ext cx="9143640" cy="5409720"/>
          </a:xfrm>
          <a:prstGeom prst="rect">
            <a:avLst/>
          </a:prstGeom>
          <a:solidFill>
            <a:srgbClr val="92d050"/>
          </a:solidFill>
          <a:ln w="0">
            <a:noFill/>
          </a:ln>
        </p:spPr>
        <p:txBody>
          <a:bodyPr anchor="t">
            <a:normAutofit/>
          </a:bodyPr>
          <a:p>
            <a:pPr marL="343080" indent="-343080">
              <a:lnSpc>
                <a:spcPct val="100000"/>
              </a:lnSpc>
              <a:spcBef>
                <a:spcPts val="799"/>
              </a:spcBef>
              <a:buNone/>
              <a:tabLst>
                <a:tab algn="l" pos="0"/>
              </a:tabLst>
            </a:pPr>
            <a:r>
              <a:rPr b="1" lang="en-US" sz="3200" spc="-1" strike="noStrike">
                <a:solidFill>
                  <a:srgbClr val="000000"/>
                </a:solidFill>
                <a:latin typeface="Calibri"/>
              </a:rPr>
              <a:t>  </a:t>
            </a:r>
            <a:r>
              <a:rPr b="0" lang="en-US" sz="3200" spc="-1" strike="noStrike">
                <a:solidFill>
                  <a:srgbClr val="000000"/>
                </a:solidFill>
                <a:latin typeface="Calibri"/>
              </a:rPr>
              <a:t> </a:t>
            </a:r>
            <a:r>
              <a:rPr b="0" lang="en-US" sz="4000" spc="-1" strike="noStrike">
                <a:solidFill>
                  <a:srgbClr val="000000"/>
                </a:solidFill>
                <a:latin typeface="Bookman Old Style"/>
              </a:rPr>
              <a:t>In today’s world, businesses must consider the environmental impact of their operations. Environmental concern involves awareness of ecological issues and a commitment to sustainable practices to minimize harm to the planet.</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p:transition>
    <p:wedg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0" y="0"/>
            <a:ext cx="9143640" cy="990360"/>
          </a:xfrm>
          <a:prstGeom prst="rect">
            <a:avLst/>
          </a:prstGeom>
          <a:solidFill>
            <a:srgbClr val="c0504d"/>
          </a:solidFill>
          <a:ln w="0">
            <a:noFill/>
          </a:ln>
        </p:spPr>
        <p:txBody>
          <a:bodyPr anchor="ctr">
            <a:normAutofit fontScale="44000"/>
          </a:bodyPr>
          <a:p>
            <a:pPr algn="ctr">
              <a:lnSpc>
                <a:spcPct val="100000"/>
              </a:lnSpc>
              <a:buNone/>
            </a:pPr>
            <a:br>
              <a:rPr sz="4400"/>
            </a:br>
            <a:r>
              <a:rPr b="1" lang="en-US" sz="4400" spc="-1" strike="noStrike">
                <a:solidFill>
                  <a:srgbClr val="000000"/>
                </a:solidFill>
                <a:latin typeface="Bookman Old Style"/>
              </a:rPr>
              <a:t>What is business etiquette?</a:t>
            </a:r>
            <a:br>
              <a:rPr sz="4400"/>
            </a:br>
            <a:endParaRPr b="0" lang="en-US" sz="4400" spc="-1" strike="noStrike">
              <a:solidFill>
                <a:srgbClr val="000000"/>
              </a:solidFill>
              <a:latin typeface="Calibri"/>
            </a:endParaRPr>
          </a:p>
        </p:txBody>
      </p:sp>
      <p:sp>
        <p:nvSpPr>
          <p:cNvPr id="82" name="PlaceHolder 2"/>
          <p:cNvSpPr>
            <a:spLocks noGrp="1"/>
          </p:cNvSpPr>
          <p:nvPr>
            <p:ph/>
          </p:nvPr>
        </p:nvSpPr>
        <p:spPr>
          <a:xfrm>
            <a:off x="0" y="990720"/>
            <a:ext cx="9143640" cy="5866920"/>
          </a:xfrm>
          <a:prstGeom prst="rect">
            <a:avLst/>
          </a:prstGeom>
          <a:solidFill>
            <a:srgbClr val="b3a2c7"/>
          </a:solidFill>
          <a:ln w="0">
            <a:noFill/>
          </a:ln>
        </p:spPr>
        <p:txBody>
          <a:bodyPr anchor="t">
            <a:normAutofit fontScale="88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Bahnschrift Light SemiCondensed"/>
              </a:rPr>
              <a:t>Business etiquette is a type of behavior that team members are expected to follow in order to uphold the company image and respect each other. Business etiquette may change from culture to culture, but when everyone understands and follows a particular set of standards, it can create a sense of unity.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Bahnschrift Light SemiCondensed"/>
              </a:rPr>
              <a:t>Business etiquette is sometimes unspoken, but more often than not, team members will agree upon the basic rules so everyone presents a united image. When team members follow business etiquette, it builds </a:t>
            </a:r>
            <a:r>
              <a:rPr b="0" lang="en-US" sz="3200" spc="-1" strike="noStrike" u="sng">
                <a:solidFill>
                  <a:srgbClr val="0000ff"/>
                </a:solidFill>
                <a:uFillTx/>
                <a:latin typeface="Bahnschrift Light SemiCondensed"/>
                <a:hlinkClick r:id="rId1"/>
              </a:rPr>
              <a:t>effective communication in the workplace</a:t>
            </a:r>
            <a:r>
              <a:rPr b="0" lang="en-US" sz="3200" spc="-1" strike="noStrike">
                <a:solidFill>
                  <a:srgbClr val="000000"/>
                </a:solidFill>
                <a:latin typeface="Bahnschrift Light SemiCondensed"/>
              </a:rPr>
              <a:t>.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0" y="0"/>
            <a:ext cx="9143640" cy="1066320"/>
          </a:xfrm>
          <a:prstGeom prst="rect">
            <a:avLst/>
          </a:prstGeom>
          <a:solidFill>
            <a:srgbClr val="8064a2"/>
          </a:solidFill>
          <a:ln w="0">
            <a:noFill/>
          </a:ln>
        </p:spPr>
        <p:txBody>
          <a:bodyPr anchor="ctr">
            <a:normAutofit/>
          </a:bodyPr>
          <a:p>
            <a:pPr algn="ctr">
              <a:lnSpc>
                <a:spcPct val="100000"/>
              </a:lnSpc>
              <a:buNone/>
            </a:pPr>
            <a:r>
              <a:rPr b="1" lang="en-US" sz="3600" spc="-1" strike="noStrike">
                <a:solidFill>
                  <a:srgbClr val="000000"/>
                </a:solidFill>
                <a:latin typeface="Bookman Old Style"/>
              </a:rPr>
              <a:t>The 5 basics of business etiquette</a:t>
            </a:r>
            <a:endParaRPr b="0" lang="en-US" sz="3600" spc="-1" strike="noStrike">
              <a:solidFill>
                <a:srgbClr val="000000"/>
              </a:solidFill>
              <a:latin typeface="Calibri"/>
            </a:endParaRPr>
          </a:p>
        </p:txBody>
      </p:sp>
      <p:sp>
        <p:nvSpPr>
          <p:cNvPr id="84" name="PlaceHolder 2"/>
          <p:cNvSpPr>
            <a:spLocks noGrp="1"/>
          </p:cNvSpPr>
          <p:nvPr>
            <p:ph/>
          </p:nvPr>
        </p:nvSpPr>
        <p:spPr>
          <a:xfrm>
            <a:off x="0" y="1066680"/>
            <a:ext cx="9143640" cy="5790960"/>
          </a:xfrm>
          <a:prstGeom prst="rect">
            <a:avLst/>
          </a:prstGeom>
          <a:solidFill>
            <a:srgbClr val="77933c"/>
          </a:solidFill>
          <a:ln w="0">
            <a:noFill/>
          </a:ln>
        </p:spPr>
        <p:txBody>
          <a:bodyPr anchor="t">
            <a:normAutofit fontScale="92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 basics of business etiquette vary from culture to culture, and it can be particularly intimidating to understand business etiquette if you're working for a company with a culture different from the one you grew up in. However, there are some universal constants that can help you stick to the status quo as you learn the particular </a:t>
            </a:r>
            <a:r>
              <a:rPr b="0" lang="en-US" sz="3200" spc="-1" strike="noStrike" u="sng">
                <a:solidFill>
                  <a:srgbClr val="0000ff"/>
                </a:solidFill>
                <a:uFillTx/>
                <a:latin typeface="Calibri"/>
                <a:hlinkClick r:id="rId1"/>
              </a:rPr>
              <a:t>group dynamics</a:t>
            </a:r>
            <a:r>
              <a:rPr b="0" lang="en-US" sz="3200" spc="-1" strike="noStrike">
                <a:solidFill>
                  <a:srgbClr val="000000"/>
                </a:solidFill>
                <a:latin typeface="Calibri"/>
              </a:rPr>
              <a:t> and team norms at your company.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These five important business courtesies can help you make a solid first impression and show respect for your team members.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0" y="0"/>
            <a:ext cx="9143640" cy="1417320"/>
          </a:xfrm>
          <a:prstGeom prst="rect">
            <a:avLst/>
          </a:prstGeom>
          <a:solidFill>
            <a:srgbClr val="b3a2c7"/>
          </a:solidFill>
          <a:ln w="0">
            <a:noFill/>
          </a:ln>
        </p:spPr>
        <p:txBody>
          <a:bodyPr anchor="ctr">
            <a:normAutofit fontScale="65000"/>
          </a:bodyPr>
          <a:p>
            <a:pPr algn="ctr">
              <a:lnSpc>
                <a:spcPct val="100000"/>
              </a:lnSpc>
              <a:buNone/>
            </a:pPr>
            <a:br>
              <a:rPr sz="4400"/>
            </a:br>
            <a:r>
              <a:rPr b="1" lang="en-US" sz="4400" spc="-1" strike="noStrike">
                <a:solidFill>
                  <a:srgbClr val="000000"/>
                </a:solidFill>
                <a:latin typeface="Bookman Old Style"/>
              </a:rPr>
              <a:t>1. Be on time</a:t>
            </a:r>
            <a:br>
              <a:rPr sz="4400"/>
            </a:br>
            <a:endParaRPr b="0" lang="en-US" sz="4400" spc="-1" strike="noStrike">
              <a:solidFill>
                <a:srgbClr val="000000"/>
              </a:solidFill>
              <a:latin typeface="Calibri"/>
            </a:endParaRPr>
          </a:p>
        </p:txBody>
      </p:sp>
      <p:sp>
        <p:nvSpPr>
          <p:cNvPr id="86" name="PlaceHolder 2"/>
          <p:cNvSpPr>
            <a:spLocks noGrp="1"/>
          </p:cNvSpPr>
          <p:nvPr>
            <p:ph/>
          </p:nvPr>
        </p:nvSpPr>
        <p:spPr>
          <a:xfrm>
            <a:off x="0" y="1447920"/>
            <a:ext cx="9143640" cy="5409720"/>
          </a:xfrm>
          <a:prstGeom prst="rect">
            <a:avLst/>
          </a:prstGeom>
          <a:solidFill>
            <a:srgbClr val="00b050"/>
          </a:solidFill>
          <a:ln w="0">
            <a:noFill/>
          </a:ln>
        </p:spPr>
        <p:txBody>
          <a:bodyPr anchor="t">
            <a:normAutofit fontScale="89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Whether you’re attending an interview or daily </a:t>
            </a:r>
            <a:r>
              <a:rPr b="0" lang="en-US" sz="3200" spc="-1" strike="noStrike" u="sng">
                <a:solidFill>
                  <a:srgbClr val="0000ff"/>
                </a:solidFill>
                <a:uFillTx/>
                <a:latin typeface="Calibri"/>
                <a:hlinkClick r:id="rId1"/>
              </a:rPr>
              <a:t>standup meeting</a:t>
            </a:r>
            <a:r>
              <a:rPr b="0" lang="en-US" sz="3200" spc="-1" strike="noStrike">
                <a:solidFill>
                  <a:srgbClr val="000000"/>
                </a:solidFill>
                <a:latin typeface="Calibri"/>
              </a:rPr>
              <a:t>, being on time in a work environment shows that you respect everyone’s schedule. If punctuality isn’t something you’ve prioritized in the past, brush up on some </a:t>
            </a:r>
            <a:r>
              <a:rPr b="0" lang="en-US" sz="3200" spc="-1" strike="noStrike" u="sng">
                <a:solidFill>
                  <a:srgbClr val="0000ff"/>
                </a:solidFill>
                <a:uFillTx/>
                <a:latin typeface="Calibri"/>
                <a:hlinkClick r:id="rId2"/>
              </a:rPr>
              <a:t>time management tips</a:t>
            </a:r>
            <a:r>
              <a:rPr b="0" lang="en-US" sz="3200" spc="-1" strike="noStrike">
                <a:solidFill>
                  <a:srgbClr val="000000"/>
                </a:solidFill>
                <a:latin typeface="Calibri"/>
              </a:rPr>
              <a:t> to keep yourself organized and aware of your </a:t>
            </a:r>
            <a:r>
              <a:rPr b="0" lang="en-US" sz="3200" spc="-1" strike="noStrike" u="sng">
                <a:solidFill>
                  <a:srgbClr val="0000ff"/>
                </a:solidFill>
                <a:uFillTx/>
                <a:latin typeface="Calibri"/>
                <a:hlinkClick r:id="rId3"/>
              </a:rPr>
              <a:t>to-do list</a:t>
            </a:r>
            <a:r>
              <a:rPr b="0" lang="en-US" sz="3200" spc="-1" strike="noStrike">
                <a:solidFill>
                  <a:srgbClr val="000000"/>
                </a:solidFill>
                <a:latin typeface="Calibri"/>
              </a:rPr>
              <a:t>.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There are nuances to being on time—some cultures operate on a system of being slightly late to everything. But when in doubt, show up on time and adjust from there if necessary.</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0" y="0"/>
            <a:ext cx="9143640" cy="1218960"/>
          </a:xfrm>
          <a:prstGeom prst="rect">
            <a:avLst/>
          </a:prstGeom>
          <a:solidFill>
            <a:srgbClr val="8064a2"/>
          </a:solidFill>
          <a:ln w="0">
            <a:noFill/>
          </a:ln>
        </p:spPr>
        <p:txBody>
          <a:bodyPr anchor="ctr">
            <a:normAutofit fontScale="56000"/>
          </a:bodyPr>
          <a:p>
            <a:pPr algn="ctr">
              <a:lnSpc>
                <a:spcPct val="100000"/>
              </a:lnSpc>
              <a:buNone/>
            </a:pPr>
            <a:br>
              <a:rPr sz="4400"/>
            </a:br>
            <a:r>
              <a:rPr b="1" lang="en-US" sz="4400" spc="-1" strike="noStrike">
                <a:solidFill>
                  <a:srgbClr val="000000"/>
                </a:solidFill>
                <a:latin typeface="Bookman Old Style"/>
              </a:rPr>
              <a:t>2. Recognize your team</a:t>
            </a:r>
            <a:br>
              <a:rPr sz="4400"/>
            </a:br>
            <a:endParaRPr b="0" lang="en-US" sz="4400" spc="-1" strike="noStrike">
              <a:solidFill>
                <a:srgbClr val="000000"/>
              </a:solidFill>
              <a:latin typeface="Calibri"/>
            </a:endParaRPr>
          </a:p>
        </p:txBody>
      </p:sp>
      <p:sp>
        <p:nvSpPr>
          <p:cNvPr id="88" name="PlaceHolder 2"/>
          <p:cNvSpPr>
            <a:spLocks noGrp="1"/>
          </p:cNvSpPr>
          <p:nvPr>
            <p:ph/>
          </p:nvPr>
        </p:nvSpPr>
        <p:spPr>
          <a:xfrm>
            <a:off x="0" y="1219320"/>
            <a:ext cx="9143640" cy="5638320"/>
          </a:xfrm>
          <a:prstGeom prst="rect">
            <a:avLst/>
          </a:prstGeom>
          <a:solidFill>
            <a:srgbClr val="ccc1da"/>
          </a:solidFill>
          <a:ln w="0">
            <a:noFill/>
          </a:ln>
        </p:spPr>
        <p:txBody>
          <a:bodyPr anchor="t">
            <a:normAutofit fontScale="86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Acknowledging others is proper business etiquette for both casual and formal work environments. When someone walks in the room at a business dinner or meeting, greet them and say hello appropriately—whether by shaking hands or following some other cultural custom.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 same rule applies if you work from home and attend daily Zoom meetings. You may not be required to get on camera in every business meeting, but speaking up and taking the time to recognize your team members can let everyone know you’re listening and make others feel noticed.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0" y="0"/>
            <a:ext cx="9143640" cy="1417320"/>
          </a:xfrm>
          <a:prstGeom prst="rect">
            <a:avLst/>
          </a:prstGeom>
          <a:solidFill>
            <a:srgbClr val="00b050"/>
          </a:solidFill>
          <a:ln w="0">
            <a:noFill/>
          </a:ln>
        </p:spPr>
        <p:txBody>
          <a:bodyPr anchor="ctr">
            <a:normAutofit fontScale="98000"/>
          </a:bodyPr>
          <a:p>
            <a:pPr algn="ctr">
              <a:lnSpc>
                <a:spcPct val="100000"/>
              </a:lnSpc>
              <a:buNone/>
            </a:pPr>
            <a:r>
              <a:rPr b="1" lang="en-US" sz="4400" spc="-1" strike="noStrike">
                <a:solidFill>
                  <a:srgbClr val="000000"/>
                </a:solidFill>
                <a:latin typeface="Bookman Old Style"/>
              </a:rPr>
              <a:t>3. Dress appropriately</a:t>
            </a:r>
            <a:br>
              <a:rPr sz="4400"/>
            </a:br>
            <a:endParaRPr b="0" lang="en-US" sz="4400" spc="-1" strike="noStrike">
              <a:solidFill>
                <a:srgbClr val="000000"/>
              </a:solidFill>
              <a:latin typeface="Calibri"/>
            </a:endParaRPr>
          </a:p>
        </p:txBody>
      </p:sp>
      <p:sp>
        <p:nvSpPr>
          <p:cNvPr id="90" name="PlaceHolder 2"/>
          <p:cNvSpPr>
            <a:spLocks noGrp="1"/>
          </p:cNvSpPr>
          <p:nvPr>
            <p:ph/>
          </p:nvPr>
        </p:nvSpPr>
        <p:spPr>
          <a:xfrm>
            <a:off x="0" y="1447920"/>
            <a:ext cx="9143640" cy="5409720"/>
          </a:xfrm>
          <a:prstGeom prst="rect">
            <a:avLst/>
          </a:prstGeom>
          <a:solidFill>
            <a:srgbClr val="d99694"/>
          </a:solidFill>
          <a:ln w="0">
            <a:noFill/>
          </a:ln>
        </p:spPr>
        <p:txBody>
          <a:bodyPr anchor="t">
            <a:normAutofit fontScale="71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Dressing appropriately is subjective and will depend on whether you work in an office or from home. Some companies that work in the office every day will expect everyone to dress in business casual attire because much of the work involves face time with </a:t>
            </a:r>
            <a:r>
              <a:rPr b="0" lang="en-US" sz="3200" spc="-1" strike="noStrike" u="sng">
                <a:solidFill>
                  <a:srgbClr val="0000ff"/>
                </a:solidFill>
                <a:uFillTx/>
                <a:latin typeface="Calibri"/>
                <a:hlinkClick r:id="rId1"/>
              </a:rPr>
              <a:t>stakeholders</a:t>
            </a:r>
            <a:r>
              <a:rPr b="0" lang="en-US" sz="3200" spc="-1" strike="noStrike">
                <a:solidFill>
                  <a:srgbClr val="000000"/>
                </a:solidFill>
                <a:latin typeface="Calibri"/>
              </a:rPr>
              <a:t> or clients. Other companies who work in a hybrid environment may encourage team members to dress casually in order to promote comfort and </a:t>
            </a:r>
            <a:r>
              <a:rPr b="0" lang="en-US" sz="3200" spc="-1" strike="noStrike" u="sng">
                <a:solidFill>
                  <a:srgbClr val="0000ff"/>
                </a:solidFill>
                <a:uFillTx/>
                <a:latin typeface="Calibri"/>
                <a:hlinkClick r:id="rId2"/>
              </a:rPr>
              <a:t>productivity</a:t>
            </a:r>
            <a:r>
              <a:rPr b="0" lang="en-US" sz="3200" spc="-1" strike="noStrike">
                <a:solidFill>
                  <a:srgbClr val="000000"/>
                </a:solidFill>
                <a:latin typeface="Calibri"/>
              </a:rPr>
              <a:t>.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If you are unsure about appropriate business attire, ask your manager or supervisor for tips. It’s especially common to feel unsure if you just started a new job, but don’t be afraid to send a quick email before your first day to get a feel of the office policy. Alternatively, think back to your interview and try to remember what everyone was wearing so you can dress accordingly. </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0" y="0"/>
            <a:ext cx="9143640" cy="1417320"/>
          </a:xfrm>
          <a:prstGeom prst="rect">
            <a:avLst/>
          </a:prstGeom>
          <a:solidFill>
            <a:srgbClr val="e46c0a"/>
          </a:solidFill>
          <a:ln w="0">
            <a:noFill/>
          </a:ln>
        </p:spPr>
        <p:txBody>
          <a:bodyPr anchor="ctr">
            <a:normAutofit fontScale="65000"/>
          </a:bodyPr>
          <a:p>
            <a:pPr algn="ctr">
              <a:lnSpc>
                <a:spcPct val="100000"/>
              </a:lnSpc>
              <a:buNone/>
            </a:pPr>
            <a:br>
              <a:rPr sz="4400"/>
            </a:br>
            <a:r>
              <a:rPr b="1" lang="en-US" sz="4400" spc="-1" strike="noStrike">
                <a:solidFill>
                  <a:srgbClr val="000000"/>
                </a:solidFill>
                <a:latin typeface="Bookman Old Style"/>
              </a:rPr>
              <a:t>4. Respect shared spaces</a:t>
            </a:r>
            <a:br>
              <a:rPr sz="4400"/>
            </a:br>
            <a:endParaRPr b="0" lang="en-US" sz="4400" spc="-1" strike="noStrike">
              <a:solidFill>
                <a:srgbClr val="000000"/>
              </a:solidFill>
              <a:latin typeface="Calibri"/>
            </a:endParaRPr>
          </a:p>
        </p:txBody>
      </p:sp>
      <p:sp>
        <p:nvSpPr>
          <p:cNvPr id="92" name="PlaceHolder 2"/>
          <p:cNvSpPr>
            <a:spLocks noGrp="1"/>
          </p:cNvSpPr>
          <p:nvPr>
            <p:ph/>
          </p:nvPr>
        </p:nvSpPr>
        <p:spPr>
          <a:xfrm>
            <a:off x="0" y="1371600"/>
            <a:ext cx="9143640" cy="5486040"/>
          </a:xfrm>
          <a:prstGeom prst="rect">
            <a:avLst/>
          </a:prstGeom>
          <a:solidFill>
            <a:srgbClr val="9bbb59"/>
          </a:solidFill>
          <a:ln w="0">
            <a:noFill/>
          </a:ln>
        </p:spPr>
        <p:txBody>
          <a:bodyPr anchor="t">
            <a:normAutofit fontScale="78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Even if you work remotely, you may go into the office on occasion or share virtual spaces with your team members. Office spaces you may share with team members include a kitchen, bathroom, printer and copy room, and lounge area. Virtual spaces you may share include Google Drive folders and </a:t>
            </a:r>
            <a:r>
              <a:rPr b="0" lang="en-US" sz="3200" spc="-1" strike="noStrike" u="sng">
                <a:solidFill>
                  <a:srgbClr val="0000ff"/>
                </a:solidFill>
                <a:uFillTx/>
                <a:latin typeface="Calibri"/>
                <a:hlinkClick r:id="rId1"/>
              </a:rPr>
              <a:t>project management software</a:t>
            </a:r>
            <a:r>
              <a:rPr b="0" lang="en-US" sz="3200" spc="-1" strike="noStrike">
                <a:solidFill>
                  <a:srgbClr val="000000"/>
                </a:solidFill>
                <a:latin typeface="Calibri"/>
              </a:rPr>
              <a:t>.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 way you treat shared spaces will reflect on you as a professional, so it’s important that you label things correctly, stay organized, and respect others who also use these spaces. Business etiquette applies to shared spaces whether you’re cleaning up after yourself physically or following company processes online.</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0" y="0"/>
            <a:ext cx="9143640" cy="990360"/>
          </a:xfrm>
          <a:prstGeom prst="rect">
            <a:avLst/>
          </a:prstGeom>
          <a:solidFill>
            <a:srgbClr val="7030a0"/>
          </a:solidFill>
          <a:ln w="0">
            <a:noFill/>
          </a:ln>
        </p:spPr>
        <p:txBody>
          <a:bodyPr anchor="ctr">
            <a:normAutofit fontScale="59000"/>
          </a:bodyPr>
          <a:p>
            <a:pPr algn="ctr">
              <a:lnSpc>
                <a:spcPct val="100000"/>
              </a:lnSpc>
              <a:buNone/>
            </a:pPr>
            <a:br>
              <a:rPr sz="4400"/>
            </a:br>
            <a:r>
              <a:rPr b="1" lang="en-US" sz="2800" spc="-1" strike="noStrike">
                <a:solidFill>
                  <a:srgbClr val="000000"/>
                </a:solidFill>
                <a:latin typeface="Bookman Old Style"/>
              </a:rPr>
              <a:t>5. Build emotional intelligence</a:t>
            </a:r>
            <a:br>
              <a:rPr sz="2800"/>
            </a:br>
            <a:endParaRPr b="0" lang="en-US" sz="2800" spc="-1" strike="noStrike">
              <a:solidFill>
                <a:srgbClr val="000000"/>
              </a:solidFill>
              <a:latin typeface="Calibri"/>
            </a:endParaRPr>
          </a:p>
        </p:txBody>
      </p:sp>
      <p:sp>
        <p:nvSpPr>
          <p:cNvPr id="94" name="PlaceHolder 2"/>
          <p:cNvSpPr>
            <a:spLocks noGrp="1"/>
          </p:cNvSpPr>
          <p:nvPr>
            <p:ph/>
          </p:nvPr>
        </p:nvSpPr>
        <p:spPr>
          <a:xfrm>
            <a:off x="0" y="990720"/>
            <a:ext cx="9143640" cy="5866920"/>
          </a:xfrm>
          <a:prstGeom prst="rect">
            <a:avLst/>
          </a:prstGeom>
          <a:solidFill>
            <a:srgbClr val="b7dee8"/>
          </a:solidFill>
          <a:ln w="0">
            <a:noFill/>
          </a:ln>
        </p:spPr>
        <p:txBody>
          <a:bodyPr anchor="t">
            <a:normAutofit fontScale="73000"/>
          </a:bodyPr>
          <a:p>
            <a:pPr marL="343080" indent="-343080">
              <a:lnSpc>
                <a:spcPct val="100000"/>
              </a:lnSpc>
              <a:spcBef>
                <a:spcPts val="641"/>
              </a:spcBef>
              <a:buClr>
                <a:srgbClr val="000000"/>
              </a:buClr>
              <a:buFont typeface="Arial"/>
              <a:buChar char="•"/>
            </a:pPr>
            <a:r>
              <a:rPr b="0" lang="en-US" sz="3200" spc="-1" strike="noStrike" u="sng">
                <a:solidFill>
                  <a:srgbClr val="0000ff"/>
                </a:solidFill>
                <a:uFillTx/>
                <a:latin typeface="Calibri"/>
                <a:hlinkClick r:id="rId1"/>
              </a:rPr>
              <a:t>Emotional intelligence</a:t>
            </a:r>
            <a:r>
              <a:rPr b="0" lang="en-US" sz="3200" spc="-1" strike="noStrike">
                <a:solidFill>
                  <a:srgbClr val="000000"/>
                </a:solidFill>
                <a:latin typeface="Calibri"/>
              </a:rPr>
              <a:t> is the ability to recognize, regulate, and understand emotions in yourself and in others. Effective emotional intelligence skills can help you empathize with team members and overcome challenges. While emotional intelligence isn’t a direct rule of business etiquette, it will help you in the workplace, no matter what conflicts arise.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For example, imagine you’re behind on work and your boss suddenly adds a large, time-sensitive project to your plate. With emotional intelligence skills, you can speak with your manager to understand the relative priority of the work. Since you're already behind on work, you can express your worry about becoming </a:t>
            </a:r>
            <a:r>
              <a:rPr b="0" lang="en-US" sz="3200" spc="-1" strike="noStrike" u="sng">
                <a:solidFill>
                  <a:srgbClr val="0000ff"/>
                </a:solidFill>
                <a:uFillTx/>
                <a:latin typeface="Calibri"/>
                <a:hlinkClick r:id="rId2"/>
              </a:rPr>
              <a:t>overworked</a:t>
            </a:r>
            <a:r>
              <a:rPr b="0" lang="en-US" sz="3200" spc="-1" strike="noStrike">
                <a:solidFill>
                  <a:srgbClr val="000000"/>
                </a:solidFill>
                <a:latin typeface="Calibri"/>
              </a:rPr>
              <a:t> and work with your manager to come up with a solution of which work you can deprioritize or </a:t>
            </a:r>
            <a:r>
              <a:rPr b="0" lang="en-US" sz="3200" spc="-1" strike="noStrike" u="sng">
                <a:solidFill>
                  <a:srgbClr val="0000ff"/>
                </a:solidFill>
                <a:uFillTx/>
                <a:latin typeface="Calibri"/>
                <a:hlinkClick r:id="rId3"/>
              </a:rPr>
              <a:t>delegate</a:t>
            </a:r>
            <a:r>
              <a:rPr b="0" lang="en-US" sz="3200" spc="-1" strike="noStrike">
                <a:solidFill>
                  <a:srgbClr val="000000"/>
                </a:solidFill>
                <a:latin typeface="Calibri"/>
              </a:rPr>
              <a:t> less important tasks.</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0" y="0"/>
            <a:ext cx="9143640" cy="990360"/>
          </a:xfrm>
          <a:prstGeom prst="rect">
            <a:avLst/>
          </a:prstGeom>
          <a:solidFill>
            <a:srgbClr val="7030a0"/>
          </a:solidFill>
          <a:ln w="0">
            <a:noFill/>
          </a:ln>
        </p:spPr>
        <p:txBody>
          <a:bodyPr anchor="ctr">
            <a:normAutofit fontScale="44000"/>
          </a:bodyPr>
          <a:p>
            <a:pPr algn="ctr">
              <a:lnSpc>
                <a:spcPct val="100000"/>
              </a:lnSpc>
              <a:buNone/>
            </a:pPr>
            <a:br>
              <a:rPr sz="4400"/>
            </a:br>
            <a:r>
              <a:rPr b="1" lang="en-US" sz="4400" spc="-1" strike="noStrike">
                <a:solidFill>
                  <a:srgbClr val="000000"/>
                </a:solidFill>
                <a:latin typeface="Bahnschrift Condensed"/>
              </a:rPr>
              <a:t>Business etiquette for remote workers</a:t>
            </a:r>
            <a:br>
              <a:rPr sz="4400"/>
            </a:br>
            <a:endParaRPr b="0" lang="en-US" sz="4400" spc="-1" strike="noStrike">
              <a:solidFill>
                <a:srgbClr val="000000"/>
              </a:solidFill>
              <a:latin typeface="Calibri"/>
            </a:endParaRPr>
          </a:p>
        </p:txBody>
      </p:sp>
      <p:sp>
        <p:nvSpPr>
          <p:cNvPr id="96" name="PlaceHolder 2"/>
          <p:cNvSpPr>
            <a:spLocks noGrp="1"/>
          </p:cNvSpPr>
          <p:nvPr>
            <p:ph/>
          </p:nvPr>
        </p:nvSpPr>
        <p:spPr>
          <a:xfrm>
            <a:off x="0" y="990720"/>
            <a:ext cx="9143640" cy="5866920"/>
          </a:xfrm>
          <a:prstGeom prst="rect">
            <a:avLst/>
          </a:prstGeom>
          <a:solidFill>
            <a:srgbClr val="93cddd"/>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ookman Old Style"/>
              </a:rPr>
              <a:t>With the transition to increasingly </a:t>
            </a:r>
            <a:r>
              <a:rPr b="0" lang="en-US" sz="4000" spc="-1" strike="noStrike" u="sng">
                <a:solidFill>
                  <a:srgbClr val="0000ff"/>
                </a:solidFill>
                <a:uFillTx/>
                <a:latin typeface="Bookman Old Style"/>
                <a:hlinkClick r:id="rId1"/>
              </a:rPr>
              <a:t>virtual teams</a:t>
            </a:r>
            <a:r>
              <a:rPr b="0" lang="en-US" sz="4000" spc="-1" strike="noStrike">
                <a:solidFill>
                  <a:srgbClr val="000000"/>
                </a:solidFill>
                <a:latin typeface="Bookman Old Style"/>
              </a:rPr>
              <a:t>, the definition and practice of business etiquette has changed. In person, you may need a politely firm handshake and the right attire, but when </a:t>
            </a:r>
            <a:r>
              <a:rPr b="0" lang="en-US" sz="4000" spc="-1" strike="noStrike" u="sng">
                <a:solidFill>
                  <a:srgbClr val="0000ff"/>
                </a:solidFill>
                <a:uFillTx/>
                <a:latin typeface="Bookman Old Style"/>
                <a:hlinkClick r:id="rId2"/>
              </a:rPr>
              <a:t>working remotely</a:t>
            </a:r>
            <a:r>
              <a:rPr b="0" lang="en-US" sz="4000" spc="-1" strike="noStrike">
                <a:solidFill>
                  <a:srgbClr val="000000"/>
                </a:solidFill>
                <a:latin typeface="Bookman Old Style"/>
              </a:rPr>
              <a:t>, you’ll need to know the basics of email, phone, and video etiquette.</a:t>
            </a:r>
            <a:endParaRPr b="0" lang="en-US" sz="40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0" y="0"/>
            <a:ext cx="9143640" cy="1417320"/>
          </a:xfrm>
          <a:prstGeom prst="rect">
            <a:avLst/>
          </a:prstGeom>
          <a:solidFill>
            <a:srgbClr val="558ed5"/>
          </a:solidFill>
          <a:ln w="0">
            <a:noFill/>
          </a:ln>
        </p:spPr>
        <p:txBody>
          <a:bodyPr anchor="ctr">
            <a:normAutofit fontScale="64000"/>
          </a:bodyPr>
          <a:p>
            <a:pPr algn="ctr">
              <a:lnSpc>
                <a:spcPct val="100000"/>
              </a:lnSpc>
              <a:buNone/>
            </a:pPr>
            <a:br>
              <a:rPr sz="4400"/>
            </a:br>
            <a:r>
              <a:rPr b="1" lang="en-US" sz="4400" spc="-1" strike="noStrike">
                <a:solidFill>
                  <a:srgbClr val="000000"/>
                </a:solidFill>
                <a:latin typeface="Bahnschrift Light SemiCondensed"/>
              </a:rPr>
              <a:t>Email and team communication etiquette</a:t>
            </a:r>
            <a:br>
              <a:rPr sz="4400"/>
            </a:br>
            <a:endParaRPr b="0" lang="en-US" sz="4400" spc="-1" strike="noStrike">
              <a:solidFill>
                <a:srgbClr val="000000"/>
              </a:solidFill>
              <a:latin typeface="Calibri"/>
            </a:endParaRPr>
          </a:p>
        </p:txBody>
      </p:sp>
      <p:sp>
        <p:nvSpPr>
          <p:cNvPr id="98" name="PlaceHolder 2"/>
          <p:cNvSpPr>
            <a:spLocks noGrp="1"/>
          </p:cNvSpPr>
          <p:nvPr>
            <p:ph/>
          </p:nvPr>
        </p:nvSpPr>
        <p:spPr>
          <a:xfrm>
            <a:off x="0" y="1447920"/>
            <a:ext cx="9143640" cy="5409720"/>
          </a:xfrm>
          <a:prstGeom prst="rect">
            <a:avLst/>
          </a:prstGeom>
          <a:solidFill>
            <a:srgbClr val="92d050"/>
          </a:solidFill>
          <a:ln w="0">
            <a:noFill/>
          </a:ln>
        </p:spPr>
        <p:txBody>
          <a:bodyPr anchor="t">
            <a:normAutofit fontScale="96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Writing an email or communicating with your team through online differs from personal communication. Consider the tips below for proper email and online etiquette.</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1" lang="en-US" sz="3200" spc="-1" strike="noStrike">
                <a:solidFill>
                  <a:srgbClr val="000000"/>
                </a:solidFill>
                <a:latin typeface="Calibri"/>
              </a:rPr>
              <a:t>Proofread: </a:t>
            </a:r>
            <a:r>
              <a:rPr b="0" lang="en-US" sz="3200" spc="-1" strike="noStrike">
                <a:solidFill>
                  <a:srgbClr val="000000"/>
                </a:solidFill>
                <a:latin typeface="Calibri"/>
              </a:rPr>
              <a:t>Proofreading your emails is a hard rule of thumb that you shouldn’t ignore. While your email or project management platform may have a built-in proofreading tool, you should also look over your email before sending it out, just in case.</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0"/>
            <a:ext cx="9143640" cy="1417320"/>
          </a:xfrm>
          <a:prstGeom prst="rect">
            <a:avLst/>
          </a:prstGeom>
          <a:solidFill>
            <a:srgbClr val="b3a2c7"/>
          </a:solidFill>
          <a:ln w="0">
            <a:noFill/>
          </a:ln>
        </p:spPr>
        <p:txBody>
          <a:bodyPr anchor="ctr">
            <a:noAutofit/>
          </a:bodyPr>
          <a:p>
            <a:pPr algn="ctr">
              <a:lnSpc>
                <a:spcPct val="100000"/>
              </a:lnSpc>
              <a:buNone/>
            </a:pPr>
            <a:r>
              <a:rPr b="1" lang="en-US" sz="4400" spc="-1" strike="noStrike">
                <a:solidFill>
                  <a:srgbClr val="000000"/>
                </a:solidFill>
                <a:latin typeface="Bookman Old Style"/>
              </a:rPr>
              <a:t>Be polite and professional</a:t>
            </a:r>
            <a:endParaRPr b="0" lang="en-US" sz="4400" spc="-1" strike="noStrike">
              <a:solidFill>
                <a:srgbClr val="000000"/>
              </a:solidFill>
              <a:latin typeface="Calibri"/>
            </a:endParaRPr>
          </a:p>
        </p:txBody>
      </p:sp>
      <p:sp>
        <p:nvSpPr>
          <p:cNvPr id="100" name="PlaceHolder 2"/>
          <p:cNvSpPr>
            <a:spLocks noGrp="1"/>
          </p:cNvSpPr>
          <p:nvPr>
            <p:ph/>
          </p:nvPr>
        </p:nvSpPr>
        <p:spPr>
          <a:xfrm>
            <a:off x="0" y="1447920"/>
            <a:ext cx="9143640" cy="5409720"/>
          </a:xfrm>
          <a:prstGeom prst="rect">
            <a:avLst/>
          </a:prstGeom>
          <a:solidFill>
            <a:srgbClr val="c4bd97"/>
          </a:solidFill>
          <a:ln w="0">
            <a:noFill/>
          </a:ln>
        </p:spPr>
        <p:txBody>
          <a:bodyPr anchor="t">
            <a:noAutofit/>
          </a:bodyPr>
          <a:p>
            <a:pPr marL="343080" indent="-343080">
              <a:lnSpc>
                <a:spcPct val="100000"/>
              </a:lnSpc>
              <a:spcBef>
                <a:spcPts val="720"/>
              </a:spcBef>
              <a:buClr>
                <a:srgbClr val="000000"/>
              </a:buClr>
              <a:buFont typeface="Arial"/>
              <a:buChar char="•"/>
            </a:pPr>
            <a:r>
              <a:rPr b="0" lang="en-US" sz="3600" spc="-1" strike="noStrike">
                <a:solidFill>
                  <a:srgbClr val="000000"/>
                </a:solidFill>
                <a:latin typeface="Calibri"/>
              </a:rPr>
              <a:t>Even though you're not speaking face to face with your email recipient, your tone of voice will come through in your words. It’s important to be polite and professional in your copy. For example, you can use upbeat phrases like: “I hope you... thanks for... just a friendly reminder... please let me know... looking forward to hearing from you.”</a:t>
            </a:r>
            <a:endParaRPr b="0" lang="en-US" sz="36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0"/>
            <a:ext cx="9143640" cy="1142640"/>
          </a:xfrm>
          <a:prstGeom prst="rect">
            <a:avLst/>
          </a:prstGeom>
          <a:solidFill>
            <a:srgbClr val="d99694"/>
          </a:solidFill>
          <a:ln w="0">
            <a:noFill/>
          </a:ln>
        </p:spPr>
        <p:txBody>
          <a:bodyPr anchor="ctr">
            <a:normAutofit/>
          </a:bodyPr>
          <a:p>
            <a:pPr algn="ctr">
              <a:lnSpc>
                <a:spcPct val="100000"/>
              </a:lnSpc>
              <a:buNone/>
            </a:pPr>
            <a:r>
              <a:rPr b="1" lang="en-US" sz="4000" spc="-1" strike="noStrike">
                <a:solidFill>
                  <a:srgbClr val="000000"/>
                </a:solidFill>
                <a:latin typeface="Bookman Old Style"/>
              </a:rPr>
              <a:t>Respond in a timely manner</a:t>
            </a:r>
            <a:endParaRPr b="0" lang="en-US" sz="4000" spc="-1" strike="noStrike">
              <a:solidFill>
                <a:srgbClr val="000000"/>
              </a:solidFill>
              <a:latin typeface="Calibri"/>
            </a:endParaRPr>
          </a:p>
        </p:txBody>
      </p:sp>
      <p:sp>
        <p:nvSpPr>
          <p:cNvPr id="102" name="PlaceHolder 2"/>
          <p:cNvSpPr>
            <a:spLocks noGrp="1"/>
          </p:cNvSpPr>
          <p:nvPr>
            <p:ph/>
          </p:nvPr>
        </p:nvSpPr>
        <p:spPr>
          <a:xfrm>
            <a:off x="0" y="1143000"/>
            <a:ext cx="9143640" cy="5714640"/>
          </a:xfrm>
          <a:prstGeom prst="rect">
            <a:avLst/>
          </a:prstGeom>
          <a:solidFill>
            <a:srgbClr val="ffc000"/>
          </a:solidFill>
          <a:ln w="0">
            <a:noFill/>
          </a:ln>
        </p:spPr>
        <p:txBody>
          <a:bodyPr anchor="t">
            <a:normAutofit fontScale="93000"/>
          </a:bodyPr>
          <a:p>
            <a:pPr marL="343080" indent="-343080">
              <a:lnSpc>
                <a:spcPct val="100000"/>
              </a:lnSpc>
              <a:spcBef>
                <a:spcPts val="720"/>
              </a:spcBef>
              <a:buClr>
                <a:srgbClr val="000000"/>
              </a:buClr>
              <a:buFont typeface="Arial"/>
              <a:buChar char="•"/>
            </a:pPr>
            <a:r>
              <a:rPr b="0" lang="en-US" sz="3600" spc="-1" strike="noStrike">
                <a:solidFill>
                  <a:srgbClr val="000000"/>
                </a:solidFill>
                <a:latin typeface="Arial Unicode MS"/>
                <a:ea typeface="Arial Unicode MS"/>
              </a:rPr>
              <a:t>Whenever another team member or client reaches out to you, they’re doing so for a reason. Proper email and team communication etiquette means responding to people in a timely manner, even if that means setting up an automatic response for when you’re out of the office. While you don’t need to respond within minutes, aim to respond within one or two business days.</a:t>
            </a:r>
            <a:endParaRPr b="0" lang="en-US" sz="36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0"/>
            <a:ext cx="9143640" cy="1417320"/>
          </a:xfrm>
          <a:prstGeom prst="rect">
            <a:avLst/>
          </a:prstGeom>
          <a:solidFill>
            <a:srgbClr val="d99694"/>
          </a:solidFill>
          <a:ln w="0">
            <a:noFill/>
          </a:ln>
        </p:spPr>
        <p:txBody>
          <a:bodyPr anchor="ctr">
            <a:noAutofit/>
          </a:bodyPr>
          <a:p>
            <a:pPr algn="ctr">
              <a:lnSpc>
                <a:spcPct val="100000"/>
              </a:lnSpc>
              <a:buNone/>
            </a:pPr>
            <a:r>
              <a:rPr b="1" lang="en-US" sz="4400" spc="-1" strike="noStrike">
                <a:solidFill>
                  <a:srgbClr val="000000"/>
                </a:solidFill>
                <a:latin typeface="Bookman Old Style"/>
              </a:rPr>
              <a:t>Keep it brief</a:t>
            </a:r>
            <a:endParaRPr b="0" lang="en-US" sz="4400" spc="-1" strike="noStrike">
              <a:solidFill>
                <a:srgbClr val="000000"/>
              </a:solidFill>
              <a:latin typeface="Calibri"/>
            </a:endParaRPr>
          </a:p>
        </p:txBody>
      </p:sp>
      <p:sp>
        <p:nvSpPr>
          <p:cNvPr id="104" name="PlaceHolder 2"/>
          <p:cNvSpPr>
            <a:spLocks noGrp="1"/>
          </p:cNvSpPr>
          <p:nvPr>
            <p:ph/>
          </p:nvPr>
        </p:nvSpPr>
        <p:spPr>
          <a:xfrm>
            <a:off x="0" y="1447920"/>
            <a:ext cx="9143640" cy="5409720"/>
          </a:xfrm>
          <a:prstGeom prst="rect">
            <a:avLst/>
          </a:prstGeom>
          <a:solidFill>
            <a:srgbClr val="b3a2c7"/>
          </a:solidFill>
          <a:ln w="0">
            <a:noFill/>
          </a:ln>
        </p:spPr>
        <p:txBody>
          <a:bodyPr anchor="t">
            <a:normAutofit fontScale="89000"/>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Keeping your email copy brief can get your point across quickly and save time for your reader. When you hide the main objective of your message within a lengthy email, your reader may be less likely to respond in the way you hope for.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Remember that who you’re writing to may make a difference in your email or online content. For example, if you’re communicating with other team members through Asana and Slack, you can write in a more casual tone, whereas client emails should be more formal.</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0"/>
            <a:ext cx="9143640" cy="1417320"/>
          </a:xfrm>
          <a:prstGeom prst="rect">
            <a:avLst/>
          </a:prstGeom>
          <a:solidFill>
            <a:srgbClr val="00b050"/>
          </a:solidFill>
          <a:ln w="0">
            <a:noFill/>
          </a:ln>
        </p:spPr>
        <p:txBody>
          <a:bodyPr anchor="ctr">
            <a:normAutofit fontScale="65000"/>
          </a:bodyPr>
          <a:p>
            <a:pPr algn="ctr">
              <a:lnSpc>
                <a:spcPct val="100000"/>
              </a:lnSpc>
              <a:buNone/>
            </a:pPr>
            <a:br>
              <a:rPr sz="4400"/>
            </a:br>
            <a:r>
              <a:rPr b="1" lang="en-US" sz="4400" spc="-1" strike="noStrike">
                <a:solidFill>
                  <a:srgbClr val="000000"/>
                </a:solidFill>
                <a:latin typeface="Bookman Old Style"/>
              </a:rPr>
              <a:t>Phone etiquette</a:t>
            </a:r>
            <a:br>
              <a:rPr sz="4400"/>
            </a:br>
            <a:endParaRPr b="0" lang="en-US" sz="4400" spc="-1" strike="noStrike">
              <a:solidFill>
                <a:srgbClr val="000000"/>
              </a:solidFill>
              <a:latin typeface="Calibri"/>
            </a:endParaRPr>
          </a:p>
        </p:txBody>
      </p:sp>
      <p:sp>
        <p:nvSpPr>
          <p:cNvPr id="106" name="PlaceHolder 2"/>
          <p:cNvSpPr>
            <a:spLocks noGrp="1"/>
          </p:cNvSpPr>
          <p:nvPr>
            <p:ph/>
          </p:nvPr>
        </p:nvSpPr>
        <p:spPr>
          <a:xfrm>
            <a:off x="0" y="1371600"/>
            <a:ext cx="9143640" cy="5486040"/>
          </a:xfrm>
          <a:prstGeom prst="rect">
            <a:avLst/>
          </a:prstGeom>
          <a:solidFill>
            <a:srgbClr val="fac090"/>
          </a:solidFill>
          <a:ln w="0">
            <a:noFill/>
          </a:ln>
        </p:spPr>
        <p:txBody>
          <a:bodyPr anchor="t">
            <a:noAutofit/>
          </a:bodyPr>
          <a:p>
            <a:pPr marL="343080" indent="-343080">
              <a:lnSpc>
                <a:spcPct val="100000"/>
              </a:lnSpc>
              <a:spcBef>
                <a:spcPts val="961"/>
              </a:spcBef>
              <a:buClr>
                <a:srgbClr val="000000"/>
              </a:buClr>
              <a:buFont typeface="Arial"/>
              <a:buChar char="•"/>
            </a:pPr>
            <a:r>
              <a:rPr b="0" lang="en-US" sz="4800" spc="-1" strike="noStrike">
                <a:solidFill>
                  <a:srgbClr val="000000"/>
                </a:solidFill>
                <a:latin typeface="Bookman Old Style"/>
              </a:rPr>
              <a:t>Business communication often occurs through phone calls. When speaking to clients or business partners on the phone, consider the following ways to uphold business etiquette</a:t>
            </a:r>
            <a:r>
              <a:rPr b="0" lang="en-US" sz="4000" spc="-1" strike="noStrike">
                <a:solidFill>
                  <a:srgbClr val="000000"/>
                </a:solidFill>
                <a:latin typeface="Calibri"/>
              </a:rPr>
              <a:t>. </a:t>
            </a:r>
            <a:endParaRPr b="0" lang="en-US" sz="40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0" y="0"/>
            <a:ext cx="9143640" cy="1417320"/>
          </a:xfrm>
          <a:prstGeom prst="rect">
            <a:avLst/>
          </a:prstGeom>
          <a:solidFill>
            <a:srgbClr val="0070c0"/>
          </a:solidFill>
          <a:ln w="0">
            <a:noFill/>
          </a:ln>
        </p:spPr>
        <p:txBody>
          <a:bodyPr anchor="ctr">
            <a:noAutofit/>
          </a:bodyPr>
          <a:p>
            <a:pPr algn="ctr">
              <a:lnSpc>
                <a:spcPct val="100000"/>
              </a:lnSpc>
              <a:buNone/>
            </a:pPr>
            <a:r>
              <a:rPr b="1" lang="en-US" sz="4400" spc="-1" strike="noStrike">
                <a:solidFill>
                  <a:srgbClr val="000000"/>
                </a:solidFill>
                <a:latin typeface="Bookman Old Style"/>
              </a:rPr>
              <a:t>Don’t call unannounced</a:t>
            </a:r>
            <a:endParaRPr b="0" lang="en-US" sz="4400" spc="-1" strike="noStrike">
              <a:solidFill>
                <a:srgbClr val="000000"/>
              </a:solidFill>
              <a:latin typeface="Calibri"/>
            </a:endParaRPr>
          </a:p>
        </p:txBody>
      </p:sp>
      <p:sp>
        <p:nvSpPr>
          <p:cNvPr id="108" name="PlaceHolder 2"/>
          <p:cNvSpPr>
            <a:spLocks noGrp="1"/>
          </p:cNvSpPr>
          <p:nvPr>
            <p:ph/>
          </p:nvPr>
        </p:nvSpPr>
        <p:spPr>
          <a:xfrm>
            <a:off x="0" y="1447920"/>
            <a:ext cx="9143640" cy="5409720"/>
          </a:xfrm>
          <a:prstGeom prst="rect">
            <a:avLst/>
          </a:prstGeom>
          <a:solidFill>
            <a:srgbClr val="b3a2c7"/>
          </a:solidFill>
          <a:ln w="0">
            <a:noFill/>
          </a:ln>
        </p:spPr>
        <p:txBody>
          <a:bodyPr anchor="t">
            <a:normAutofit fontScale="95000"/>
          </a:bodyPr>
          <a:p>
            <a:pPr marL="343080" indent="-343080">
              <a:lnSpc>
                <a:spcPct val="100000"/>
              </a:lnSpc>
              <a:spcBef>
                <a:spcPts val="720"/>
              </a:spcBef>
              <a:buClr>
                <a:srgbClr val="000000"/>
              </a:buClr>
              <a:buFont typeface="Arial"/>
              <a:buChar char="•"/>
            </a:pPr>
            <a:r>
              <a:rPr b="0" lang="en-US" sz="3600" spc="-1" strike="noStrike">
                <a:solidFill>
                  <a:srgbClr val="000000"/>
                </a:solidFill>
                <a:latin typeface="Bookman Old Style"/>
              </a:rPr>
              <a:t>Everyone in the business world has a schedule to follow, whether they’re working around a strict </a:t>
            </a:r>
            <a:r>
              <a:rPr b="0" lang="en-US" sz="3600" spc="-1" strike="noStrike" u="sng">
                <a:solidFill>
                  <a:srgbClr val="0000ff"/>
                </a:solidFill>
                <a:uFillTx/>
                <a:latin typeface="Bookman Old Style"/>
                <a:hlinkClick r:id="rId1"/>
              </a:rPr>
              <a:t>project timeline</a:t>
            </a:r>
            <a:r>
              <a:rPr b="0" lang="en-US" sz="3600" spc="-1" strike="noStrike">
                <a:solidFill>
                  <a:srgbClr val="000000"/>
                </a:solidFill>
                <a:latin typeface="Bookman Old Style"/>
              </a:rPr>
              <a:t> or trying to </a:t>
            </a:r>
            <a:r>
              <a:rPr b="0" lang="en-US" sz="3600" spc="-1" strike="noStrike" u="sng">
                <a:solidFill>
                  <a:srgbClr val="0000ff"/>
                </a:solidFill>
                <a:uFillTx/>
                <a:latin typeface="Bookman Old Style"/>
                <a:hlinkClick r:id="rId2"/>
              </a:rPr>
              <a:t>prioritize</a:t>
            </a:r>
            <a:r>
              <a:rPr b="0" lang="en-US" sz="3600" spc="-1" strike="noStrike">
                <a:solidFill>
                  <a:srgbClr val="000000"/>
                </a:solidFill>
                <a:latin typeface="Bookman Old Style"/>
              </a:rPr>
              <a:t> a heavy workload. When you need to talk to someone on the phone, send them an email first to schedule your call. Calling unannounced can be considered bad manners because the call recipient may be unprepared to talk to you</a:t>
            </a:r>
            <a:r>
              <a:rPr b="0" lang="en-US" sz="3200" spc="-1" strike="noStrike">
                <a:solidFill>
                  <a:srgbClr val="000000"/>
                </a:solidFill>
                <a:latin typeface="Calibri"/>
              </a:rPr>
              <a:t>. </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0" y="0"/>
            <a:ext cx="9143640" cy="1417320"/>
          </a:xfrm>
          <a:prstGeom prst="rect">
            <a:avLst/>
          </a:prstGeom>
          <a:solidFill>
            <a:srgbClr val="558ed5"/>
          </a:solidFill>
          <a:ln w="0">
            <a:noFill/>
          </a:ln>
        </p:spPr>
        <p:txBody>
          <a:bodyPr anchor="ctr">
            <a:normAutofit/>
          </a:bodyPr>
          <a:p>
            <a:pPr algn="ctr">
              <a:lnSpc>
                <a:spcPct val="100000"/>
              </a:lnSpc>
              <a:buNone/>
            </a:pPr>
            <a:r>
              <a:rPr b="1" lang="en-US" sz="4000" spc="-1" strike="noStrike">
                <a:solidFill>
                  <a:srgbClr val="000000"/>
                </a:solidFill>
                <a:latin typeface="Bookman Old Style"/>
              </a:rPr>
              <a:t>Use reasonable tone and clarity</a:t>
            </a:r>
            <a:endParaRPr b="0" lang="en-US" sz="4000" spc="-1" strike="noStrike">
              <a:solidFill>
                <a:srgbClr val="000000"/>
              </a:solidFill>
              <a:latin typeface="Calibri"/>
            </a:endParaRPr>
          </a:p>
        </p:txBody>
      </p:sp>
      <p:sp>
        <p:nvSpPr>
          <p:cNvPr id="110" name="PlaceHolder 2"/>
          <p:cNvSpPr>
            <a:spLocks noGrp="1"/>
          </p:cNvSpPr>
          <p:nvPr>
            <p:ph/>
          </p:nvPr>
        </p:nvSpPr>
        <p:spPr>
          <a:xfrm>
            <a:off x="0" y="1371600"/>
            <a:ext cx="9143640" cy="5486040"/>
          </a:xfrm>
          <a:prstGeom prst="rect">
            <a:avLst/>
          </a:prstGeom>
          <a:solidFill>
            <a:srgbClr val="00b050"/>
          </a:solidFill>
          <a:ln w="0">
            <a:noFill/>
          </a:ln>
        </p:spPr>
        <p:txBody>
          <a:bodyPr anchor="t">
            <a:norm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Arial Unicode MS"/>
                <a:ea typeface="Arial Unicode MS"/>
              </a:rPr>
              <a:t>Your tone of voice is important on work phone calls. You’ll need to keep a polite tone as you speak to team members or clients and be aware of your volume and clarity as well. If you speak too loudly or mumble on a professional call, your recipient may not receive your message the way you hope them to. Tone and communication can also vary based on culture, so keep </a:t>
            </a:r>
            <a:r>
              <a:rPr b="0" lang="en-US" sz="3200" spc="-1" strike="noStrike" u="sng">
                <a:solidFill>
                  <a:srgbClr val="0000ff"/>
                </a:solidFill>
                <a:uFillTx/>
                <a:latin typeface="Arial Unicode MS"/>
                <a:ea typeface="Arial Unicode MS"/>
                <a:hlinkClick r:id="rId1"/>
              </a:rPr>
              <a:t>cultural intelligence</a:t>
            </a:r>
            <a:r>
              <a:rPr b="0" lang="en-US" sz="3200" spc="-1" strike="noStrike">
                <a:solidFill>
                  <a:srgbClr val="000000"/>
                </a:solidFill>
                <a:latin typeface="Arial Unicode MS"/>
                <a:ea typeface="Arial Unicode MS"/>
              </a:rPr>
              <a:t> in mind when on the phone.</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0"/>
            <a:ext cx="9143640" cy="1417320"/>
          </a:xfrm>
          <a:prstGeom prst="rect">
            <a:avLst/>
          </a:prstGeom>
          <a:solidFill>
            <a:srgbClr val="7030a0"/>
          </a:solidFill>
          <a:ln w="0">
            <a:noFill/>
          </a:ln>
        </p:spPr>
        <p:txBody>
          <a:bodyPr anchor="ctr">
            <a:normAutofit/>
          </a:bodyPr>
          <a:p>
            <a:pPr algn="ctr">
              <a:lnSpc>
                <a:spcPct val="100000"/>
              </a:lnSpc>
              <a:buNone/>
            </a:pPr>
            <a:r>
              <a:rPr b="1" lang="en-US" sz="4000" spc="-1" strike="noStrike">
                <a:solidFill>
                  <a:srgbClr val="000000"/>
                </a:solidFill>
                <a:latin typeface="Bookman Old Style"/>
              </a:rPr>
              <a:t>Deliver messages promptly</a:t>
            </a:r>
            <a:endParaRPr b="0" lang="en-US" sz="4000" spc="-1" strike="noStrike">
              <a:solidFill>
                <a:srgbClr val="000000"/>
              </a:solidFill>
              <a:latin typeface="Calibri"/>
            </a:endParaRPr>
          </a:p>
        </p:txBody>
      </p:sp>
      <p:sp>
        <p:nvSpPr>
          <p:cNvPr id="112" name="PlaceHolder 2"/>
          <p:cNvSpPr>
            <a:spLocks noGrp="1"/>
          </p:cNvSpPr>
          <p:nvPr>
            <p:ph/>
          </p:nvPr>
        </p:nvSpPr>
        <p:spPr>
          <a:xfrm>
            <a:off x="0" y="1447920"/>
            <a:ext cx="9143640" cy="5409720"/>
          </a:xfrm>
          <a:prstGeom prst="rect">
            <a:avLst/>
          </a:prstGeom>
          <a:solidFill>
            <a:srgbClr val="d99694"/>
          </a:solidFill>
          <a:ln w="0">
            <a:noFill/>
          </a:ln>
        </p:spPr>
        <p:txBody>
          <a:bodyPr anchor="t">
            <a:normAutofit fontScale="97000"/>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Calibri"/>
              </a:rPr>
              <a:t>Just like with work emails, it’s important to respond to work voicemails promptly. You may receive emails from team members or clients asking to schedule phone calls. Respond to these emails quickly with the best time you’re available to talk on the phone.</a:t>
            </a:r>
            <a:r>
              <a:rPr b="0" lang="en-US" sz="3200" spc="-1" strike="noStrike">
                <a:solidFill>
                  <a:srgbClr val="000000"/>
                </a:solidFill>
                <a:latin typeface="Calibri"/>
              </a:rPr>
              <a:t> </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0"/>
            <a:ext cx="9143640" cy="1417320"/>
          </a:xfrm>
          <a:prstGeom prst="rect">
            <a:avLst/>
          </a:prstGeom>
          <a:solidFill>
            <a:srgbClr val="77933c"/>
          </a:solidFill>
          <a:ln w="0">
            <a:noFill/>
          </a:ln>
        </p:spPr>
        <p:txBody>
          <a:bodyPr anchor="ctr">
            <a:normAutofit/>
          </a:bodyPr>
          <a:p>
            <a:pPr algn="ctr">
              <a:lnSpc>
                <a:spcPct val="100000"/>
              </a:lnSpc>
              <a:buNone/>
            </a:pPr>
            <a:r>
              <a:rPr b="1" lang="en-US" sz="4000" spc="-1" strike="noStrike">
                <a:solidFill>
                  <a:srgbClr val="000000"/>
                </a:solidFill>
                <a:latin typeface="Bookman Old Style"/>
              </a:rPr>
              <a:t>Create a professional voicemail</a:t>
            </a:r>
            <a:endParaRPr b="0" lang="en-US" sz="4000" spc="-1" strike="noStrike">
              <a:solidFill>
                <a:srgbClr val="000000"/>
              </a:solidFill>
              <a:latin typeface="Calibri"/>
            </a:endParaRPr>
          </a:p>
        </p:txBody>
      </p:sp>
      <p:sp>
        <p:nvSpPr>
          <p:cNvPr id="114" name="PlaceHolder 2"/>
          <p:cNvSpPr>
            <a:spLocks noGrp="1"/>
          </p:cNvSpPr>
          <p:nvPr>
            <p:ph/>
          </p:nvPr>
        </p:nvSpPr>
        <p:spPr>
          <a:xfrm>
            <a:off x="0" y="1447920"/>
            <a:ext cx="9143640" cy="5409720"/>
          </a:xfrm>
          <a:prstGeom prst="rect">
            <a:avLst/>
          </a:prstGeom>
          <a:solidFill>
            <a:srgbClr val="b3a2c7"/>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Bahnschrift Light SemiCondensed"/>
              </a:rPr>
              <a:t>Creating a professional voicemail for when you’re unavailable is proper business etiquette because it lets people know who you are, what you do, and that you’re unavailable. They can then leave you messages explaining why they’re calling</a:t>
            </a:r>
            <a:r>
              <a:rPr b="0" lang="en-US" sz="4000" spc="-1" strike="noStrike">
                <a:solidFill>
                  <a:srgbClr val="000000"/>
                </a:solidFill>
                <a:latin typeface="Calibri"/>
              </a:rPr>
              <a:t>. </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0" y="0"/>
            <a:ext cx="9143640" cy="1417320"/>
          </a:xfrm>
          <a:prstGeom prst="rect">
            <a:avLst/>
          </a:prstGeom>
          <a:solidFill>
            <a:srgbClr val="ffff00"/>
          </a:solidFill>
          <a:ln w="0">
            <a:noFill/>
          </a:ln>
        </p:spPr>
        <p:txBody>
          <a:bodyPr anchor="ctr">
            <a:noAutofit/>
          </a:bodyPr>
          <a:p>
            <a:pPr algn="ctr">
              <a:lnSpc>
                <a:spcPct val="100000"/>
              </a:lnSpc>
              <a:buNone/>
            </a:pPr>
            <a:r>
              <a:rPr b="1" lang="en-US" sz="4400" spc="-1" strike="noStrike">
                <a:solidFill>
                  <a:srgbClr val="000000"/>
                </a:solidFill>
                <a:latin typeface="Bookman Old Style"/>
              </a:rPr>
              <a:t>Video etiquette</a:t>
            </a:r>
            <a:endParaRPr b="0" lang="en-US" sz="4400" spc="-1" strike="noStrike">
              <a:solidFill>
                <a:srgbClr val="000000"/>
              </a:solidFill>
              <a:latin typeface="Calibri"/>
            </a:endParaRPr>
          </a:p>
        </p:txBody>
      </p:sp>
      <p:sp>
        <p:nvSpPr>
          <p:cNvPr id="116" name="PlaceHolder 2"/>
          <p:cNvSpPr>
            <a:spLocks noGrp="1"/>
          </p:cNvSpPr>
          <p:nvPr>
            <p:ph/>
          </p:nvPr>
        </p:nvSpPr>
        <p:spPr>
          <a:xfrm>
            <a:off x="0" y="1447920"/>
            <a:ext cx="9143640" cy="5409720"/>
          </a:xfrm>
          <a:prstGeom prst="rect">
            <a:avLst/>
          </a:prstGeom>
          <a:solidFill>
            <a:srgbClr val="fac090"/>
          </a:solidFill>
          <a:ln w="0">
            <a:noFill/>
          </a:ln>
        </p:spPr>
        <p:txBody>
          <a:bodyPr anchor="t">
            <a:normAutofit fontScale="97000"/>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Calisto MT"/>
              </a:rPr>
              <a:t>Video is one of the most popular ways for remote workers to connect. With this method of communication, you get the benefit of speaking with many of your team members in real-time, which means there are some video etiquette basics you should know. </a:t>
            </a:r>
            <a:endParaRPr b="0" lang="en-US" sz="40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0" y="0"/>
            <a:ext cx="9143640" cy="1294920"/>
          </a:xfrm>
          <a:prstGeom prst="rect">
            <a:avLst/>
          </a:prstGeom>
          <a:solidFill>
            <a:srgbClr val="7030a0"/>
          </a:solidFill>
          <a:ln w="0">
            <a:noFill/>
          </a:ln>
        </p:spPr>
        <p:txBody>
          <a:bodyPr anchor="ctr">
            <a:noAutofit/>
          </a:bodyPr>
          <a:p>
            <a:pPr algn="ctr">
              <a:lnSpc>
                <a:spcPct val="100000"/>
              </a:lnSpc>
              <a:buNone/>
            </a:pPr>
            <a:r>
              <a:rPr b="1" lang="en-US" sz="4400" spc="-1" strike="noStrike">
                <a:solidFill>
                  <a:srgbClr val="000000"/>
                </a:solidFill>
                <a:latin typeface="Calisto MT"/>
              </a:rPr>
              <a:t>Mute yourself</a:t>
            </a:r>
            <a:endParaRPr b="0" lang="en-US" sz="4400" spc="-1" strike="noStrike">
              <a:solidFill>
                <a:srgbClr val="000000"/>
              </a:solidFill>
              <a:latin typeface="Calibri"/>
            </a:endParaRPr>
          </a:p>
        </p:txBody>
      </p:sp>
      <p:sp>
        <p:nvSpPr>
          <p:cNvPr id="118" name="PlaceHolder 2"/>
          <p:cNvSpPr>
            <a:spLocks noGrp="1"/>
          </p:cNvSpPr>
          <p:nvPr>
            <p:ph/>
          </p:nvPr>
        </p:nvSpPr>
        <p:spPr>
          <a:xfrm>
            <a:off x="0" y="1371600"/>
            <a:ext cx="9143640" cy="5486040"/>
          </a:xfrm>
          <a:prstGeom prst="rect">
            <a:avLst/>
          </a:prstGeom>
          <a:solidFill>
            <a:srgbClr val="c3d69b"/>
          </a:solidFill>
          <a:ln w="0">
            <a:noFill/>
          </a:ln>
        </p:spPr>
        <p:txBody>
          <a:bodyPr anchor="t">
            <a:normAutofit/>
          </a:bodyPr>
          <a:p>
            <a:pPr marL="343080" indent="-343080">
              <a:lnSpc>
                <a:spcPct val="100000"/>
              </a:lnSpc>
              <a:spcBef>
                <a:spcPts val="720"/>
              </a:spcBef>
              <a:buClr>
                <a:srgbClr val="000000"/>
              </a:buClr>
              <a:buFont typeface="Arial"/>
              <a:buChar char="•"/>
            </a:pPr>
            <a:r>
              <a:rPr b="0" lang="en-US" sz="3600" spc="-1" strike="noStrike">
                <a:solidFill>
                  <a:srgbClr val="000000"/>
                </a:solidFill>
                <a:latin typeface="Calisto MT"/>
              </a:rPr>
              <a:t>One of the biggest issues team members face on video calls is background noise coming from those who aren’t speaking. This issue has a simple fix: mute yourself when you aren’t the speaker. Muting yourself will ensure your microphone is silent so others can have the full attention of the virtual room</a:t>
            </a:r>
            <a:r>
              <a:rPr b="0" lang="en-US" sz="3600" spc="-1" strike="noStrike">
                <a:solidFill>
                  <a:srgbClr val="000000"/>
                </a:solidFill>
                <a:latin typeface="Calibri"/>
              </a:rPr>
              <a:t>. </a:t>
            </a:r>
            <a:endParaRPr b="0" lang="en-US" sz="36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0" y="0"/>
            <a:ext cx="9143640" cy="1417320"/>
          </a:xfrm>
          <a:prstGeom prst="rect">
            <a:avLst/>
          </a:prstGeom>
          <a:solidFill>
            <a:srgbClr val="00b050"/>
          </a:solidFill>
          <a:ln w="0">
            <a:noFill/>
          </a:ln>
        </p:spPr>
        <p:txBody>
          <a:bodyPr anchor="ctr">
            <a:noAutofit/>
          </a:bodyPr>
          <a:p>
            <a:pPr algn="ctr">
              <a:lnSpc>
                <a:spcPct val="100000"/>
              </a:lnSpc>
              <a:buNone/>
            </a:pPr>
            <a:r>
              <a:rPr b="1" lang="en-US" sz="4400" spc="-1" strike="noStrike">
                <a:solidFill>
                  <a:srgbClr val="000000"/>
                </a:solidFill>
                <a:latin typeface="Calisto MT"/>
              </a:rPr>
              <a:t>Engage with your body</a:t>
            </a:r>
            <a:endParaRPr b="0" lang="en-US" sz="4400" spc="-1" strike="noStrike">
              <a:solidFill>
                <a:srgbClr val="000000"/>
              </a:solidFill>
              <a:latin typeface="Calibri"/>
            </a:endParaRPr>
          </a:p>
        </p:txBody>
      </p:sp>
      <p:sp>
        <p:nvSpPr>
          <p:cNvPr id="120" name="PlaceHolder 2"/>
          <p:cNvSpPr>
            <a:spLocks noGrp="1"/>
          </p:cNvSpPr>
          <p:nvPr>
            <p:ph/>
          </p:nvPr>
        </p:nvSpPr>
        <p:spPr>
          <a:xfrm>
            <a:off x="0" y="1447920"/>
            <a:ext cx="9143640" cy="5409720"/>
          </a:xfrm>
          <a:prstGeom prst="rect">
            <a:avLst/>
          </a:prstGeom>
          <a:solidFill>
            <a:srgbClr val="c0504d"/>
          </a:solidFill>
          <a:ln w="0">
            <a:noFill/>
          </a:ln>
        </p:spPr>
        <p:txBody>
          <a:bodyPr anchor="t">
            <a:normAutofit fontScale="95000"/>
          </a:bodyPr>
          <a:p>
            <a:pPr marL="343080" indent="-343080">
              <a:lnSpc>
                <a:spcPct val="100000"/>
              </a:lnSpc>
              <a:spcBef>
                <a:spcPts val="720"/>
              </a:spcBef>
              <a:buClr>
                <a:srgbClr val="000000"/>
              </a:buClr>
              <a:buFont typeface="Arial"/>
              <a:buChar char="•"/>
            </a:pPr>
            <a:r>
              <a:rPr b="0" lang="en-US" sz="3600" spc="-1" strike="noStrike">
                <a:solidFill>
                  <a:srgbClr val="000000"/>
                </a:solidFill>
                <a:latin typeface="Calisto MT"/>
              </a:rPr>
              <a:t>When on a video call, others can see how you non-verbally interact with the speaker. If you’re looking down or you’re too relaxed in your seat, you may send the message that you’re uninterested in the conversation. Sitting up straight, looking alert, and using </a:t>
            </a:r>
            <a:r>
              <a:rPr b="0" lang="en-US" sz="3600" spc="-1" strike="noStrike" u="sng">
                <a:solidFill>
                  <a:srgbClr val="0000ff"/>
                </a:solidFill>
                <a:uFillTx/>
                <a:latin typeface="Calisto MT"/>
                <a:hlinkClick r:id="rId1"/>
              </a:rPr>
              <a:t>nonverbal communication</a:t>
            </a:r>
            <a:r>
              <a:rPr b="0" lang="en-US" sz="3600" spc="-1" strike="noStrike">
                <a:solidFill>
                  <a:srgbClr val="000000"/>
                </a:solidFill>
                <a:latin typeface="Calisto MT"/>
              </a:rPr>
              <a:t> to show you’re engaged lets the speaker know you’re paying attention.</a:t>
            </a:r>
            <a:endParaRPr b="0" lang="en-US" sz="36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0" y="0"/>
            <a:ext cx="9143640" cy="1417320"/>
          </a:xfrm>
          <a:prstGeom prst="rect">
            <a:avLst/>
          </a:prstGeom>
          <a:solidFill>
            <a:srgbClr val="ff0000"/>
          </a:solidFill>
          <a:ln w="0">
            <a:noFill/>
          </a:ln>
        </p:spPr>
        <p:txBody>
          <a:bodyPr anchor="ctr">
            <a:noAutofit/>
          </a:bodyPr>
          <a:p>
            <a:pPr algn="ctr">
              <a:lnSpc>
                <a:spcPct val="100000"/>
              </a:lnSpc>
              <a:buNone/>
            </a:pPr>
            <a:r>
              <a:rPr b="1" lang="en-US" sz="4400" spc="-1" strike="noStrike">
                <a:solidFill>
                  <a:srgbClr val="000000"/>
                </a:solidFill>
                <a:latin typeface="Calisto MT"/>
              </a:rPr>
              <a:t>Don’t interrupt</a:t>
            </a:r>
            <a:endParaRPr b="0" lang="en-US" sz="4400" spc="-1" strike="noStrike">
              <a:solidFill>
                <a:srgbClr val="000000"/>
              </a:solidFill>
              <a:latin typeface="Calibri"/>
            </a:endParaRPr>
          </a:p>
        </p:txBody>
      </p:sp>
      <p:sp>
        <p:nvSpPr>
          <p:cNvPr id="122" name="PlaceHolder 2"/>
          <p:cNvSpPr>
            <a:spLocks noGrp="1"/>
          </p:cNvSpPr>
          <p:nvPr>
            <p:ph/>
          </p:nvPr>
        </p:nvSpPr>
        <p:spPr>
          <a:xfrm>
            <a:off x="0" y="1447920"/>
            <a:ext cx="9143640" cy="5409720"/>
          </a:xfrm>
          <a:prstGeom prst="rect">
            <a:avLst/>
          </a:prstGeom>
          <a:solidFill>
            <a:srgbClr val="92d050"/>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Calisto MT"/>
              </a:rPr>
              <a:t>Interrupting someone on a video call can be especially disruptive. Technology can’t always keep up with multiple people trying to speak on a video call, so interruptions can lead to glitches and confusion for everyone involved. </a:t>
            </a:r>
            <a:endParaRPr b="0" lang="en-US" sz="40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0" y="0"/>
            <a:ext cx="9143640" cy="1417320"/>
          </a:xfrm>
          <a:prstGeom prst="rect">
            <a:avLst/>
          </a:prstGeom>
          <a:solidFill>
            <a:srgbClr val="ffff00"/>
          </a:solidFill>
          <a:ln w="0">
            <a:noFill/>
          </a:ln>
        </p:spPr>
        <p:txBody>
          <a:bodyPr anchor="ctr">
            <a:noAutofit/>
          </a:bodyPr>
          <a:p>
            <a:pPr algn="ctr">
              <a:lnSpc>
                <a:spcPct val="100000"/>
              </a:lnSpc>
              <a:buNone/>
            </a:pPr>
            <a:r>
              <a:rPr b="1" lang="en-US" sz="4400" spc="-1" strike="noStrike">
                <a:solidFill>
                  <a:srgbClr val="000000"/>
                </a:solidFill>
                <a:latin typeface="Calisto MT"/>
              </a:rPr>
              <a:t>Dress appropriately</a:t>
            </a:r>
            <a:endParaRPr b="0" lang="en-US" sz="4400" spc="-1" strike="noStrike">
              <a:solidFill>
                <a:srgbClr val="000000"/>
              </a:solidFill>
              <a:latin typeface="Calibri"/>
            </a:endParaRPr>
          </a:p>
        </p:txBody>
      </p:sp>
      <p:sp>
        <p:nvSpPr>
          <p:cNvPr id="124" name="PlaceHolder 2"/>
          <p:cNvSpPr>
            <a:spLocks noGrp="1"/>
          </p:cNvSpPr>
          <p:nvPr>
            <p:ph/>
          </p:nvPr>
        </p:nvSpPr>
        <p:spPr>
          <a:xfrm>
            <a:off x="0" y="1523880"/>
            <a:ext cx="9143640" cy="5333760"/>
          </a:xfrm>
          <a:prstGeom prst="rect">
            <a:avLst/>
          </a:prstGeom>
          <a:solidFill>
            <a:srgbClr val="948a54"/>
          </a:solidFill>
          <a:ln w="0">
            <a:noFill/>
          </a:ln>
        </p:spPr>
        <p:txBody>
          <a:bodyPr anchor="t">
            <a:normAutofit/>
          </a:bodyPr>
          <a:p>
            <a:pPr marL="343080" indent="-343080">
              <a:lnSpc>
                <a:spcPct val="100000"/>
              </a:lnSpc>
              <a:spcBef>
                <a:spcPts val="799"/>
              </a:spcBef>
              <a:buClr>
                <a:srgbClr val="000000"/>
              </a:buClr>
              <a:buFont typeface="Arial"/>
              <a:buChar char="•"/>
            </a:pPr>
            <a:r>
              <a:rPr b="0" lang="en-US" sz="4000" spc="-1" strike="noStrike">
                <a:solidFill>
                  <a:srgbClr val="000000"/>
                </a:solidFill>
                <a:latin typeface="Calibri"/>
              </a:rPr>
              <a:t>Video calls may only show your clothes from the waist up, but it’s still important to dress appropriately together. Your attire for video calls should follow your company’s dress code. Also consider your personal hygiene when on camera. </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sp>
        <p:nvSpPr>
          <p:cNvPr id="126" name="PlaceHolder 2"/>
          <p:cNvSpPr>
            <a:spLocks noGrp="1"/>
          </p:cNvSpPr>
          <p:nvPr>
            <p:ph/>
          </p:nvPr>
        </p:nvSpPr>
        <p:spPr>
          <a:xfrm>
            <a:off x="0" y="0"/>
            <a:ext cx="9143640" cy="6857640"/>
          </a:xfrm>
          <a:prstGeom prst="rect">
            <a:avLst/>
          </a:prstGeom>
          <a:solidFill>
            <a:srgbClr val="92d050"/>
          </a:solidFill>
          <a:ln w="0">
            <a:noFill/>
          </a:ln>
        </p:spPr>
        <p:txBody>
          <a:bodyPr anchor="t">
            <a:normAutofit fontScale="91000"/>
          </a:bodyPr>
          <a:p>
            <a:pPr marL="343080" indent="-343080">
              <a:lnSpc>
                <a:spcPct val="100000"/>
              </a:lnSpc>
              <a:spcBef>
                <a:spcPts val="641"/>
              </a:spcBef>
              <a:buClr>
                <a:srgbClr val="000000"/>
              </a:buClr>
              <a:buFont typeface="Arial"/>
              <a:buChar char="•"/>
            </a:pPr>
            <a:r>
              <a:rPr b="0" lang="en-US" sz="3200" spc="-1" strike="noStrike" u="sng">
                <a:solidFill>
                  <a:srgbClr val="0000ff"/>
                </a:solidFill>
                <a:uFillTx/>
                <a:latin typeface="Calisto MT"/>
                <a:hlinkClick r:id="rId1"/>
              </a:rPr>
              <a:t>Working from home</a:t>
            </a:r>
            <a:r>
              <a:rPr b="0" lang="en-US" sz="3200" spc="-1" strike="noStrike">
                <a:solidFill>
                  <a:srgbClr val="000000"/>
                </a:solidFill>
                <a:latin typeface="Calisto MT"/>
              </a:rPr>
              <a:t> makes it less common that you’ll interact with team members and clients in person, but don’t forget that virtual interactions still leave lasting impressions. When in doubt, approach these interactions with the same business ettiquette and care as you would for an in-person conversation</a:t>
            </a:r>
            <a:r>
              <a:rPr b="0" lang="en-US" sz="3200" spc="-1" strike="noStrike">
                <a:solidFill>
                  <a:srgbClr val="000000"/>
                </a:solidFill>
                <a:latin typeface="Calibri"/>
              </a:rPr>
              <a:t>.</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1" lang="en-US" sz="3200" spc="-1" strike="noStrike">
                <a:solidFill>
                  <a:srgbClr val="000000"/>
                </a:solidFill>
                <a:latin typeface="Calibri"/>
              </a:rPr>
              <a:t>Improve team communication with business etiquette</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sto MT"/>
              </a:rPr>
              <a:t>The goal of business etiquette is to present a united company image, foster mutual respect for team members, and improve communication in the workplace. When teams communicate effectively, they do better work.</a:t>
            </a:r>
            <a:endParaRPr b="0" lang="en-US" sz="3200" spc="-1" strike="noStrike">
              <a:solidFill>
                <a:srgbClr val="000000"/>
              </a:solidFill>
              <a:latin typeface="Calibri"/>
            </a:endParaRPr>
          </a:p>
          <a:p>
            <a:pPr>
              <a:lnSpc>
                <a:spcPct val="100000"/>
              </a:lnSpc>
              <a:spcBef>
                <a:spcPts val="641"/>
              </a:spcBef>
              <a:buNone/>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128" name="Content Placeholder 4" descr="images (30).jpeg"/>
          <p:cNvPicPr/>
          <p:nvPr/>
        </p:nvPicPr>
        <p:blipFill>
          <a:blip r:embed="rId1"/>
          <a:stretch/>
        </p:blipFill>
        <p:spPr>
          <a:xfrm>
            <a:off x="0" y="0"/>
            <a:ext cx="9143640" cy="68576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385</TotalTime>
  <Application>LibreOffice/7.3.7.2$Linux_X86_64 LibreOffice_project/30$Build-2</Application>
  <AppVersion>15.0000</AppVersion>
  <Company>Microsoft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2025-09-06T02:16:57Z</dcterms:created>
  <dc:creator>CHANDRASHEKAR MUNJA</dc:creator>
  <dc:description/>
  <dc:language>en-IN</dc:language>
  <cp:lastModifiedBy/>
  <dcterms:modified xsi:type="dcterms:W3CDTF">2025-12-18T15:40:52Z</dcterms:modified>
  <cp:revision>49</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r8>43</vt:r8>
  </property>
</Properties>
</file>